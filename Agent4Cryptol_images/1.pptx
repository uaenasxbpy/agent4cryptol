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8.svg" ContentType="image/svg+xml"/>
  <Override PartName="/ppt/media/image29.svg" ContentType="image/svg+xml"/>
  <Override PartName="/ppt/media/image31.svg" ContentType="image/svg+xml"/>
  <Override PartName="/ppt/media/image32.svg" ContentType="image/svg+xml"/>
  <Override PartName="/ppt/media/image34.svg" ContentType="image/svg+xml"/>
  <Override PartName="/ppt/media/image35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3"/>
    <p:sldId id="260" r:id="rId4"/>
    <p:sldId id="261" r:id="rId5"/>
    <p:sldId id="257" r:id="rId6"/>
    <p:sldId id="258" r:id="rId7"/>
    <p:sldId id="259" r:id="rId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8" userDrawn="1">
          <p15:clr>
            <a:srgbClr val="A4A3A4"/>
          </p15:clr>
        </p15:guide>
        <p15:guide id="2" pos="38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FAF2"/>
    <a:srgbClr val="F8EFFF"/>
    <a:srgbClr val="DEEFFE"/>
    <a:srgbClr val="E8E8E8"/>
    <a:srgbClr val="B2B2B2"/>
    <a:srgbClr val="202020"/>
    <a:srgbClr val="323232"/>
    <a:srgbClr val="CC3300"/>
    <a:srgbClr val="CC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298"/>
        <p:guide pos="382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tags" Target="../tags/tag3.xml"/><Relationship Id="rId36" Type="http://schemas.openxmlformats.org/officeDocument/2006/relationships/slideLayout" Target="../slideLayouts/slideLayout1.xml"/><Relationship Id="rId35" Type="http://schemas.openxmlformats.org/officeDocument/2006/relationships/image" Target="../media/image16.svg"/><Relationship Id="rId34" Type="http://schemas.openxmlformats.org/officeDocument/2006/relationships/image" Target="../media/image15.png"/><Relationship Id="rId33" Type="http://schemas.openxmlformats.org/officeDocument/2006/relationships/tags" Target="../tags/tag19.xml"/><Relationship Id="rId32" Type="http://schemas.openxmlformats.org/officeDocument/2006/relationships/image" Target="../media/image14.svg"/><Relationship Id="rId31" Type="http://schemas.openxmlformats.org/officeDocument/2006/relationships/image" Target="../media/image13.png"/><Relationship Id="rId30" Type="http://schemas.openxmlformats.org/officeDocument/2006/relationships/tags" Target="../tags/tag18.xml"/><Relationship Id="rId3" Type="http://schemas.openxmlformats.org/officeDocument/2006/relationships/tags" Target="../tags/tag2.xml"/><Relationship Id="rId29" Type="http://schemas.openxmlformats.org/officeDocument/2006/relationships/tags" Target="../tags/tag17.xml"/><Relationship Id="rId28" Type="http://schemas.openxmlformats.org/officeDocument/2006/relationships/tags" Target="../tags/tag16.xml"/><Relationship Id="rId27" Type="http://schemas.openxmlformats.org/officeDocument/2006/relationships/image" Target="../media/image12.svg"/><Relationship Id="rId26" Type="http://schemas.openxmlformats.org/officeDocument/2006/relationships/image" Target="../media/image11.png"/><Relationship Id="rId25" Type="http://schemas.openxmlformats.org/officeDocument/2006/relationships/tags" Target="../tags/tag15.xml"/><Relationship Id="rId24" Type="http://schemas.openxmlformats.org/officeDocument/2006/relationships/image" Target="../media/image10.svg"/><Relationship Id="rId23" Type="http://schemas.openxmlformats.org/officeDocument/2006/relationships/image" Target="../media/image9.png"/><Relationship Id="rId22" Type="http://schemas.openxmlformats.org/officeDocument/2006/relationships/tags" Target="../tags/tag14.xml"/><Relationship Id="rId21" Type="http://schemas.openxmlformats.org/officeDocument/2006/relationships/tags" Target="../tags/tag13.xml"/><Relationship Id="rId20" Type="http://schemas.openxmlformats.org/officeDocument/2006/relationships/tags" Target="../tags/tag12.xml"/><Relationship Id="rId2" Type="http://schemas.openxmlformats.org/officeDocument/2006/relationships/tags" Target="../tags/tag1.xml"/><Relationship Id="rId19" Type="http://schemas.openxmlformats.org/officeDocument/2006/relationships/tags" Target="../tags/tag11.xml"/><Relationship Id="rId18" Type="http://schemas.openxmlformats.org/officeDocument/2006/relationships/image" Target="../media/image8.svg"/><Relationship Id="rId17" Type="http://schemas.openxmlformats.org/officeDocument/2006/relationships/image" Target="../media/image7.png"/><Relationship Id="rId16" Type="http://schemas.openxmlformats.org/officeDocument/2006/relationships/tags" Target="../tags/tag10.xml"/><Relationship Id="rId15" Type="http://schemas.openxmlformats.org/officeDocument/2006/relationships/image" Target="../media/image6.svg"/><Relationship Id="rId14" Type="http://schemas.openxmlformats.org/officeDocument/2006/relationships/image" Target="../media/image5.png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image" Target="../media/image4.png"/><Relationship Id="rId10" Type="http://schemas.openxmlformats.org/officeDocument/2006/relationships/tags" Target="../tags/tag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svg"/><Relationship Id="rId8" Type="http://schemas.openxmlformats.org/officeDocument/2006/relationships/image" Target="../media/image5.png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image" Target="../media/image4.png"/><Relationship Id="rId46" Type="http://schemas.openxmlformats.org/officeDocument/2006/relationships/slideLayout" Target="../slideLayouts/slideLayout1.xml"/><Relationship Id="rId45" Type="http://schemas.openxmlformats.org/officeDocument/2006/relationships/image" Target="../media/image27.png"/><Relationship Id="rId44" Type="http://schemas.openxmlformats.org/officeDocument/2006/relationships/image" Target="../media/image26.png"/><Relationship Id="rId43" Type="http://schemas.openxmlformats.org/officeDocument/2006/relationships/tags" Target="../tags/tag43.xml"/><Relationship Id="rId42" Type="http://schemas.openxmlformats.org/officeDocument/2006/relationships/tags" Target="../tags/tag42.xml"/><Relationship Id="rId41" Type="http://schemas.openxmlformats.org/officeDocument/2006/relationships/image" Target="../media/image25.png"/><Relationship Id="rId40" Type="http://schemas.openxmlformats.org/officeDocument/2006/relationships/tags" Target="../tags/tag41.xml"/><Relationship Id="rId4" Type="http://schemas.openxmlformats.org/officeDocument/2006/relationships/tags" Target="../tags/tag22.xml"/><Relationship Id="rId39" Type="http://schemas.openxmlformats.org/officeDocument/2006/relationships/image" Target="../media/image24.png"/><Relationship Id="rId38" Type="http://schemas.openxmlformats.org/officeDocument/2006/relationships/tags" Target="../tags/tag40.xml"/><Relationship Id="rId37" Type="http://schemas.openxmlformats.org/officeDocument/2006/relationships/image" Target="../media/image23.png"/><Relationship Id="rId36" Type="http://schemas.openxmlformats.org/officeDocument/2006/relationships/tags" Target="../tags/tag39.xml"/><Relationship Id="rId35" Type="http://schemas.openxmlformats.org/officeDocument/2006/relationships/tags" Target="../tags/tag38.xml"/><Relationship Id="rId34" Type="http://schemas.openxmlformats.org/officeDocument/2006/relationships/tags" Target="../tags/tag37.xml"/><Relationship Id="rId33" Type="http://schemas.openxmlformats.org/officeDocument/2006/relationships/image" Target="../media/image3.png"/><Relationship Id="rId32" Type="http://schemas.openxmlformats.org/officeDocument/2006/relationships/image" Target="../media/image22.svg"/><Relationship Id="rId31" Type="http://schemas.openxmlformats.org/officeDocument/2006/relationships/image" Target="../media/image15.png"/><Relationship Id="rId30" Type="http://schemas.openxmlformats.org/officeDocument/2006/relationships/tags" Target="../tags/tag36.xml"/><Relationship Id="rId3" Type="http://schemas.openxmlformats.org/officeDocument/2006/relationships/tags" Target="../tags/tag21.xml"/><Relationship Id="rId29" Type="http://schemas.openxmlformats.org/officeDocument/2006/relationships/image" Target="../media/image21.svg"/><Relationship Id="rId28" Type="http://schemas.openxmlformats.org/officeDocument/2006/relationships/image" Target="../media/image13.png"/><Relationship Id="rId27" Type="http://schemas.openxmlformats.org/officeDocument/2006/relationships/tags" Target="../tags/tag35.xml"/><Relationship Id="rId26" Type="http://schemas.openxmlformats.org/officeDocument/2006/relationships/tags" Target="../tags/tag34.xml"/><Relationship Id="rId25" Type="http://schemas.openxmlformats.org/officeDocument/2006/relationships/image" Target="../media/image2.png"/><Relationship Id="rId24" Type="http://schemas.openxmlformats.org/officeDocument/2006/relationships/tags" Target="../tags/tag33.xml"/><Relationship Id="rId23" Type="http://schemas.openxmlformats.org/officeDocument/2006/relationships/tags" Target="../tags/tag32.xml"/><Relationship Id="rId22" Type="http://schemas.openxmlformats.org/officeDocument/2006/relationships/tags" Target="../tags/tag31.xml"/><Relationship Id="rId21" Type="http://schemas.openxmlformats.org/officeDocument/2006/relationships/image" Target="../media/image20.svg"/><Relationship Id="rId20" Type="http://schemas.openxmlformats.org/officeDocument/2006/relationships/image" Target="../media/image11.png"/><Relationship Id="rId2" Type="http://schemas.openxmlformats.org/officeDocument/2006/relationships/tags" Target="../tags/tag20.xml"/><Relationship Id="rId19" Type="http://schemas.openxmlformats.org/officeDocument/2006/relationships/tags" Target="../tags/tag30.xml"/><Relationship Id="rId18" Type="http://schemas.openxmlformats.org/officeDocument/2006/relationships/image" Target="../media/image19.svg"/><Relationship Id="rId17" Type="http://schemas.openxmlformats.org/officeDocument/2006/relationships/image" Target="../media/image9.png"/><Relationship Id="rId16" Type="http://schemas.openxmlformats.org/officeDocument/2006/relationships/tags" Target="../tags/tag29.xml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image" Target="../media/image18.svg"/><Relationship Id="rId11" Type="http://schemas.openxmlformats.org/officeDocument/2006/relationships/image" Target="../media/image7.png"/><Relationship Id="rId10" Type="http://schemas.openxmlformats.org/officeDocument/2006/relationships/tags" Target="../tags/tag25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svg"/><Relationship Id="rId8" Type="http://schemas.openxmlformats.org/officeDocument/2006/relationships/image" Target="../media/image5.png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image" Target="../media/image4.png"/><Relationship Id="rId45" Type="http://schemas.openxmlformats.org/officeDocument/2006/relationships/slideLayout" Target="../slideLayouts/slideLayout1.xml"/><Relationship Id="rId44" Type="http://schemas.openxmlformats.org/officeDocument/2006/relationships/image" Target="../media/image24.png"/><Relationship Id="rId43" Type="http://schemas.openxmlformats.org/officeDocument/2006/relationships/tags" Target="../tags/tag66.xml"/><Relationship Id="rId42" Type="http://schemas.openxmlformats.org/officeDocument/2006/relationships/tags" Target="../tags/tag65.xml"/><Relationship Id="rId41" Type="http://schemas.openxmlformats.org/officeDocument/2006/relationships/tags" Target="../tags/tag64.xml"/><Relationship Id="rId40" Type="http://schemas.openxmlformats.org/officeDocument/2006/relationships/tags" Target="../tags/tag63.xml"/><Relationship Id="rId4" Type="http://schemas.openxmlformats.org/officeDocument/2006/relationships/tags" Target="../tags/tag46.xml"/><Relationship Id="rId39" Type="http://schemas.openxmlformats.org/officeDocument/2006/relationships/image" Target="../media/image23.png"/><Relationship Id="rId38" Type="http://schemas.openxmlformats.org/officeDocument/2006/relationships/tags" Target="../tags/tag62.xml"/><Relationship Id="rId37" Type="http://schemas.openxmlformats.org/officeDocument/2006/relationships/tags" Target="../tags/tag61.xml"/><Relationship Id="rId36" Type="http://schemas.openxmlformats.org/officeDocument/2006/relationships/image" Target="../media/image36.png"/><Relationship Id="rId35" Type="http://schemas.openxmlformats.org/officeDocument/2006/relationships/image" Target="../media/image26.png"/><Relationship Id="rId34" Type="http://schemas.openxmlformats.org/officeDocument/2006/relationships/image" Target="../media/image3.png"/><Relationship Id="rId33" Type="http://schemas.openxmlformats.org/officeDocument/2006/relationships/image" Target="../media/image27.png"/><Relationship Id="rId32" Type="http://schemas.openxmlformats.org/officeDocument/2006/relationships/image" Target="../media/image35.svg"/><Relationship Id="rId31" Type="http://schemas.openxmlformats.org/officeDocument/2006/relationships/image" Target="../media/image15.png"/><Relationship Id="rId30" Type="http://schemas.openxmlformats.org/officeDocument/2006/relationships/tags" Target="../tags/tag60.xml"/><Relationship Id="rId3" Type="http://schemas.openxmlformats.org/officeDocument/2006/relationships/tags" Target="../tags/tag45.xml"/><Relationship Id="rId29" Type="http://schemas.openxmlformats.org/officeDocument/2006/relationships/image" Target="../media/image34.svg"/><Relationship Id="rId28" Type="http://schemas.openxmlformats.org/officeDocument/2006/relationships/image" Target="../media/image33.png"/><Relationship Id="rId27" Type="http://schemas.openxmlformats.org/officeDocument/2006/relationships/tags" Target="../tags/tag59.xml"/><Relationship Id="rId26" Type="http://schemas.openxmlformats.org/officeDocument/2006/relationships/tags" Target="../tags/tag58.xml"/><Relationship Id="rId25" Type="http://schemas.openxmlformats.org/officeDocument/2006/relationships/image" Target="../media/image2.png"/><Relationship Id="rId24" Type="http://schemas.openxmlformats.org/officeDocument/2006/relationships/tags" Target="../tags/tag57.xml"/><Relationship Id="rId23" Type="http://schemas.openxmlformats.org/officeDocument/2006/relationships/tags" Target="../tags/tag56.xml"/><Relationship Id="rId22" Type="http://schemas.openxmlformats.org/officeDocument/2006/relationships/tags" Target="../tags/tag55.xml"/><Relationship Id="rId21" Type="http://schemas.openxmlformats.org/officeDocument/2006/relationships/image" Target="../media/image32.svg"/><Relationship Id="rId20" Type="http://schemas.openxmlformats.org/officeDocument/2006/relationships/image" Target="../media/image11.png"/><Relationship Id="rId2" Type="http://schemas.openxmlformats.org/officeDocument/2006/relationships/tags" Target="../tags/tag44.xml"/><Relationship Id="rId19" Type="http://schemas.openxmlformats.org/officeDocument/2006/relationships/tags" Target="../tags/tag54.xml"/><Relationship Id="rId18" Type="http://schemas.openxmlformats.org/officeDocument/2006/relationships/image" Target="../media/image31.svg"/><Relationship Id="rId17" Type="http://schemas.openxmlformats.org/officeDocument/2006/relationships/image" Target="../media/image30.png"/><Relationship Id="rId16" Type="http://schemas.openxmlformats.org/officeDocument/2006/relationships/tags" Target="../tags/tag53.xml"/><Relationship Id="rId15" Type="http://schemas.openxmlformats.org/officeDocument/2006/relationships/tags" Target="../tags/tag52.xml"/><Relationship Id="rId14" Type="http://schemas.openxmlformats.org/officeDocument/2006/relationships/tags" Target="../tags/tag51.xml"/><Relationship Id="rId13" Type="http://schemas.openxmlformats.org/officeDocument/2006/relationships/tags" Target="../tags/tag50.xml"/><Relationship Id="rId12" Type="http://schemas.openxmlformats.org/officeDocument/2006/relationships/image" Target="../media/image29.svg"/><Relationship Id="rId11" Type="http://schemas.openxmlformats.org/officeDocument/2006/relationships/image" Target="../media/image7.png"/><Relationship Id="rId10" Type="http://schemas.openxmlformats.org/officeDocument/2006/relationships/tags" Target="../tags/tag49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33" Type="http://schemas.openxmlformats.org/officeDocument/2006/relationships/slideLayout" Target="../slideLayouts/slideLayout2.xml"/><Relationship Id="rId32" Type="http://schemas.openxmlformats.org/officeDocument/2006/relationships/tags" Target="../tags/tag84.xml"/><Relationship Id="rId31" Type="http://schemas.openxmlformats.org/officeDocument/2006/relationships/image" Target="../media/image14.svg"/><Relationship Id="rId30" Type="http://schemas.openxmlformats.org/officeDocument/2006/relationships/image" Target="../media/image13.png"/><Relationship Id="rId3" Type="http://schemas.openxmlformats.org/officeDocument/2006/relationships/image" Target="../media/image2.png"/><Relationship Id="rId29" Type="http://schemas.openxmlformats.org/officeDocument/2006/relationships/tags" Target="../tags/tag83.xml"/><Relationship Id="rId28" Type="http://schemas.openxmlformats.org/officeDocument/2006/relationships/tags" Target="../tags/tag82.xml"/><Relationship Id="rId27" Type="http://schemas.openxmlformats.org/officeDocument/2006/relationships/tags" Target="../tags/tag81.xml"/><Relationship Id="rId26" Type="http://schemas.openxmlformats.org/officeDocument/2006/relationships/image" Target="../media/image12.svg"/><Relationship Id="rId25" Type="http://schemas.openxmlformats.org/officeDocument/2006/relationships/image" Target="../media/image11.png"/><Relationship Id="rId24" Type="http://schemas.openxmlformats.org/officeDocument/2006/relationships/tags" Target="../tags/tag80.xml"/><Relationship Id="rId23" Type="http://schemas.openxmlformats.org/officeDocument/2006/relationships/image" Target="../media/image10.svg"/><Relationship Id="rId22" Type="http://schemas.openxmlformats.org/officeDocument/2006/relationships/image" Target="../media/image9.png"/><Relationship Id="rId21" Type="http://schemas.openxmlformats.org/officeDocument/2006/relationships/tags" Target="../tags/tag79.xml"/><Relationship Id="rId20" Type="http://schemas.openxmlformats.org/officeDocument/2006/relationships/tags" Target="../tags/tag78.xml"/><Relationship Id="rId2" Type="http://schemas.openxmlformats.org/officeDocument/2006/relationships/tags" Target="../tags/tag68.xml"/><Relationship Id="rId19" Type="http://schemas.openxmlformats.org/officeDocument/2006/relationships/tags" Target="../tags/tag77.xml"/><Relationship Id="rId18" Type="http://schemas.openxmlformats.org/officeDocument/2006/relationships/tags" Target="../tags/tag76.xml"/><Relationship Id="rId17" Type="http://schemas.openxmlformats.org/officeDocument/2006/relationships/image" Target="../media/image8.svg"/><Relationship Id="rId16" Type="http://schemas.openxmlformats.org/officeDocument/2006/relationships/image" Target="../media/image7.png"/><Relationship Id="rId15" Type="http://schemas.openxmlformats.org/officeDocument/2006/relationships/tags" Target="../tags/tag75.xml"/><Relationship Id="rId14" Type="http://schemas.openxmlformats.org/officeDocument/2006/relationships/image" Target="../media/image6.svg"/><Relationship Id="rId13" Type="http://schemas.openxmlformats.org/officeDocument/2006/relationships/image" Target="../media/image5.png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image" Target="../media/image4.png"/><Relationship Id="rId1" Type="http://schemas.openxmlformats.org/officeDocument/2006/relationships/tags" Target="../tags/tag6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image" Target="../media/image36.png"/><Relationship Id="rId6" Type="http://schemas.openxmlformats.org/officeDocument/2006/relationships/image" Target="../media/image26.png"/><Relationship Id="rId5" Type="http://schemas.openxmlformats.org/officeDocument/2006/relationships/image" Target="../media/image3.png"/><Relationship Id="rId4" Type="http://schemas.openxmlformats.org/officeDocument/2006/relationships/tags" Target="../tags/tag87.xml"/><Relationship Id="rId3" Type="http://schemas.openxmlformats.org/officeDocument/2006/relationships/image" Target="../media/image25.png"/><Relationship Id="rId2" Type="http://schemas.openxmlformats.org/officeDocument/2006/relationships/tags" Target="../tags/tag86.xml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24.png"/><Relationship Id="rId14" Type="http://schemas.openxmlformats.org/officeDocument/2006/relationships/tags" Target="../tags/tag93.xml"/><Relationship Id="rId13" Type="http://schemas.openxmlformats.org/officeDocument/2006/relationships/tags" Target="../tags/tag92.xml"/><Relationship Id="rId12" Type="http://schemas.openxmlformats.org/officeDocument/2006/relationships/tags" Target="../tags/tag91.xml"/><Relationship Id="rId11" Type="http://schemas.openxmlformats.org/officeDocument/2006/relationships/tags" Target="../tags/tag90.xml"/><Relationship Id="rId10" Type="http://schemas.openxmlformats.org/officeDocument/2006/relationships/image" Target="../media/image23.png"/><Relationship Id="rId1" Type="http://schemas.openxmlformats.org/officeDocument/2006/relationships/tags" Target="../tags/tag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332105" y="1457325"/>
            <a:ext cx="1595755" cy="2075815"/>
          </a:xfrm>
          <a:prstGeom prst="roundRect">
            <a:avLst>
              <a:gd name="adj" fmla="val 6639"/>
            </a:avLst>
          </a:prstGeom>
          <a:solidFill>
            <a:srgbClr val="E8E8E8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3834765" y="460375"/>
            <a:ext cx="7754620" cy="5777865"/>
          </a:xfrm>
          <a:prstGeom prst="roundRect">
            <a:avLst>
              <a:gd name="adj" fmla="val 5659"/>
            </a:avLst>
          </a:prstGeom>
          <a:solidFill>
            <a:schemeClr val="bg1"/>
          </a:solidFill>
          <a:ln w="15875" cmpd="sng">
            <a:solidFill>
              <a:schemeClr val="tx2">
                <a:lumMod val="25000"/>
                <a:lumOff val="75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4113530" y="3469640"/>
            <a:ext cx="1893570" cy="2463165"/>
          </a:xfrm>
          <a:prstGeom prst="roundRect">
            <a:avLst>
              <a:gd name="adj" fmla="val 6812"/>
            </a:avLst>
          </a:prstGeom>
          <a:solidFill>
            <a:srgbClr val="DEEFFE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6572250" y="560070"/>
            <a:ext cx="4618355" cy="5372100"/>
          </a:xfrm>
          <a:prstGeom prst="roundRect">
            <a:avLst>
              <a:gd name="adj" fmla="val 5717"/>
            </a:avLst>
          </a:prstGeom>
          <a:solidFill>
            <a:srgbClr val="EDFAF2"/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372985" y="1028065"/>
            <a:ext cx="34309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u="sng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Compilation &amp; Fixing Agent</a:t>
            </a:r>
            <a:endParaRPr lang="en-US" altLang="zh-CN" sz="1400" u="sng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310" y="1596390"/>
            <a:ext cx="528320" cy="55181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944245" y="1690688"/>
            <a:ext cx="1064260" cy="363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Specification 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Document</a:t>
            </a:r>
            <a:endParaRPr lang="zh-CN" altLang="en-US" sz="1000" b="1"/>
          </a:p>
        </p:txBody>
      </p:sp>
      <p:sp>
        <p:nvSpPr>
          <p:cNvPr id="18" name="文本框 17"/>
          <p:cNvSpPr txBox="1"/>
          <p:nvPr/>
        </p:nvSpPr>
        <p:spPr>
          <a:xfrm>
            <a:off x="374968" y="2200275"/>
            <a:ext cx="1510030" cy="1332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e.g., Algorithm 1 ForExample():</a:t>
            </a:r>
            <a:endParaRPr lang="en-US" altLang="zh-CN" sz="800" i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Performs two simple for loops. </a:t>
            </a:r>
            <a:endParaRPr lang="en-US" altLang="zh-CN" sz="800" i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1: for (i</a:t>
            </a:r>
            <a:r>
              <a:rPr lang="en-US" altLang="en-US" sz="800" i="1">
                <a:latin typeface="Times New Roman" panose="02020603050405020304" charset="0"/>
                <a:cs typeface="Times New Roman" panose="02020603050405020304" charset="0"/>
              </a:rPr>
              <a:t>←</a:t>
            </a:r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 0; i&lt; 10;</a:t>
            </a:r>
            <a:r>
              <a:rPr lang="en-US" sz="800" i="1">
                <a:latin typeface="Times New Roman" panose="02020603050405020304" charset="0"/>
                <a:cs typeface="Times New Roman" panose="02020603050405020304" charset="0"/>
              </a:rPr>
              <a:t>i</a:t>
            </a:r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++) </a:t>
            </a:r>
            <a:endParaRPr lang="en-US" altLang="zh-CN" sz="800" i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2: </a:t>
            </a:r>
            <a:r>
              <a:rPr lang="zh-CN" altLang="en-US" sz="800" i="1">
                <a:latin typeface="Times New Roman" panose="02020603050405020304" charset="0"/>
                <a:cs typeface="Times New Roman" panose="02020603050405020304" charset="0"/>
              </a:rPr>
              <a:t>𝐴</a:t>
            </a:r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[i] </a:t>
            </a:r>
            <a:r>
              <a:rPr lang="en-US" altLang="en-US" sz="800" i="1">
                <a:latin typeface="Times New Roman" panose="02020603050405020304" charset="0"/>
                <a:cs typeface="Times New Roman" panose="02020603050405020304" charset="0"/>
              </a:rPr>
              <a:t>←</a:t>
            </a:r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 i </a:t>
            </a:r>
            <a:endParaRPr lang="en-US" altLang="zh-CN" sz="800" i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3: end for </a:t>
            </a:r>
            <a:endParaRPr lang="en-US" altLang="zh-CN" sz="800" i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4:</a:t>
            </a:r>
            <a:r>
              <a:rPr lang="en-US" sz="800" i="1">
                <a:latin typeface="Times New Roman" panose="02020603050405020304" charset="0"/>
                <a:cs typeface="Times New Roman" panose="02020603050405020304" charset="0"/>
              </a:rPr>
              <a:t>j</a:t>
            </a:r>
            <a:r>
              <a:rPr lang="en-US" altLang="en-US" sz="800" i="1">
                <a:latin typeface="Times New Roman" panose="02020603050405020304" charset="0"/>
                <a:cs typeface="Times New Roman" panose="02020603050405020304" charset="0"/>
              </a:rPr>
              <a:t>←</a:t>
            </a:r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0</a:t>
            </a:r>
            <a:endParaRPr lang="en-US" altLang="zh-CN" sz="800" i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5: for (k </a:t>
            </a:r>
            <a:r>
              <a:rPr lang="en-US" altLang="en-US" sz="800" i="1">
                <a:latin typeface="Times New Roman" panose="02020603050405020304" charset="0"/>
                <a:cs typeface="Times New Roman" panose="02020603050405020304" charset="0"/>
              </a:rPr>
              <a:t>←</a:t>
            </a:r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 256; k &gt; 1; k </a:t>
            </a:r>
            <a:r>
              <a:rPr lang="en-US" altLang="en-US" sz="800" i="1">
                <a:latin typeface="Times New Roman" panose="02020603050405020304" charset="0"/>
                <a:cs typeface="Times New Roman" panose="02020603050405020304" charset="0"/>
              </a:rPr>
              <a:t>←</a:t>
            </a:r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 k/2) </a:t>
            </a:r>
            <a:endParaRPr lang="en-US" altLang="zh-CN" sz="800" i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6: </a:t>
            </a:r>
            <a:r>
              <a:rPr lang="zh-CN" altLang="en-US" sz="800" i="1">
                <a:latin typeface="Times New Roman" panose="02020603050405020304" charset="0"/>
                <a:cs typeface="Times New Roman" panose="02020603050405020304" charset="0"/>
              </a:rPr>
              <a:t>𝐵</a:t>
            </a:r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[j] </a:t>
            </a:r>
            <a:r>
              <a:rPr lang="en-US" altLang="en-US" sz="800" i="1">
                <a:latin typeface="Times New Roman" panose="02020603050405020304" charset="0"/>
                <a:cs typeface="Times New Roman" panose="02020603050405020304" charset="0"/>
              </a:rPr>
              <a:t>←</a:t>
            </a:r>
            <a:r>
              <a:rPr lang="en-US" sz="800" i="1">
                <a:latin typeface="Times New Roman" panose="02020603050405020304" charset="0"/>
                <a:cs typeface="Times New Roman" panose="02020603050405020304" charset="0"/>
              </a:rPr>
              <a:t>k</a:t>
            </a:r>
            <a:endParaRPr lang="en-US" altLang="zh-CN" sz="800" i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7: </a:t>
            </a:r>
            <a:r>
              <a:rPr lang="en-US" sz="800" i="1">
                <a:latin typeface="Times New Roman" panose="02020603050405020304" charset="0"/>
                <a:cs typeface="Times New Roman" panose="02020603050405020304" charset="0"/>
              </a:rPr>
              <a:t>j</a:t>
            </a:r>
            <a:r>
              <a:rPr lang="en-US" altLang="en-US" sz="800" i="1">
                <a:latin typeface="Times New Roman" panose="02020603050405020304" charset="0"/>
                <a:cs typeface="Times New Roman" panose="02020603050405020304" charset="0"/>
              </a:rPr>
              <a:t>←</a:t>
            </a:r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800" i="1">
                <a:latin typeface="Times New Roman" panose="02020603050405020304" charset="0"/>
                <a:cs typeface="Times New Roman" panose="02020603050405020304" charset="0"/>
              </a:rPr>
              <a:t>j</a:t>
            </a:r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+ 1 </a:t>
            </a:r>
            <a:endParaRPr lang="en-US" altLang="zh-CN" sz="800" i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8: end for </a:t>
            </a:r>
            <a:endParaRPr lang="zh-CN" altLang="en-US" sz="800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24" name="组合 23"/>
          <p:cNvGrpSpPr/>
          <p:nvPr>
            <p:custDataLst>
              <p:tags r:id="rId2"/>
            </p:custDataLst>
          </p:nvPr>
        </p:nvGrpSpPr>
        <p:grpSpPr>
          <a:xfrm>
            <a:off x="4133850" y="3561715"/>
            <a:ext cx="2289810" cy="306705"/>
            <a:chOff x="6478" y="5035"/>
            <a:chExt cx="3606" cy="483"/>
          </a:xfrm>
        </p:grpSpPr>
        <p:sp>
          <p:nvSpPr>
            <p:cNvPr id="12" name="文本框 11"/>
            <p:cNvSpPr txBox="1"/>
            <p:nvPr>
              <p:custDataLst>
                <p:tags r:id="rId3"/>
              </p:custDataLst>
            </p:nvPr>
          </p:nvSpPr>
          <p:spPr>
            <a:xfrm>
              <a:off x="7205" y="5035"/>
              <a:ext cx="2879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u="sng">
                  <a:latin typeface="Times New Roman" panose="02020603050405020304" charset="0"/>
                  <a:cs typeface="Times New Roman" panose="02020603050405020304" charset="0"/>
                </a:rPr>
                <a:t>IR2Cryptol Agent</a:t>
              </a:r>
              <a:endParaRPr lang="en-US" altLang="zh-CN" sz="1200" u="sng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6478" y="5078"/>
              <a:ext cx="672" cy="440"/>
            </a:xfrm>
            <a:prstGeom prst="rect">
              <a:avLst/>
            </a:prstGeom>
          </p:spPr>
        </p:pic>
      </p:grpSp>
      <p:pic>
        <p:nvPicPr>
          <p:cNvPr id="20" name="图片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0135" y="952500"/>
            <a:ext cx="563880" cy="457200"/>
          </a:xfrm>
          <a:prstGeom prst="rect">
            <a:avLst/>
          </a:prstGeom>
        </p:spPr>
      </p:pic>
      <p:grpSp>
        <p:nvGrpSpPr>
          <p:cNvPr id="51" name="组合 50"/>
          <p:cNvGrpSpPr/>
          <p:nvPr>
            <p:custDataLst>
              <p:tags r:id="rId7"/>
            </p:custDataLst>
          </p:nvPr>
        </p:nvGrpSpPr>
        <p:grpSpPr>
          <a:xfrm>
            <a:off x="4093845" y="560070"/>
            <a:ext cx="1934845" cy="2493010"/>
            <a:chOff x="1538" y="6291"/>
            <a:chExt cx="3047" cy="3926"/>
          </a:xfrm>
        </p:grpSpPr>
        <p:sp>
          <p:nvSpPr>
            <p:cNvPr id="7" name="圆角矩形 6"/>
            <p:cNvSpPr/>
            <p:nvPr>
              <p:custDataLst>
                <p:tags r:id="rId8"/>
              </p:custDataLst>
            </p:nvPr>
          </p:nvSpPr>
          <p:spPr>
            <a:xfrm>
              <a:off x="1538" y="6291"/>
              <a:ext cx="2981" cy="3926"/>
            </a:xfrm>
            <a:prstGeom prst="roundRect">
              <a:avLst>
                <a:gd name="adj" fmla="val 4082"/>
              </a:avLst>
            </a:prstGeom>
            <a:solidFill>
              <a:srgbClr val="F8EFFF"/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>
              <p:custDataLst>
                <p:tags r:id="rId9"/>
              </p:custDataLst>
            </p:nvPr>
          </p:nvSpPr>
          <p:spPr>
            <a:xfrm>
              <a:off x="2365" y="6475"/>
              <a:ext cx="22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u="sng">
                  <a:latin typeface="Times New Roman" panose="02020603050405020304" charset="0"/>
                  <a:cs typeface="Times New Roman" panose="02020603050405020304" charset="0"/>
                </a:rPr>
                <a:t>Spec2IR Agent</a:t>
              </a:r>
              <a:endParaRPr lang="en-US" altLang="zh-CN" sz="1200" u="sng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pic>
          <p:nvPicPr>
            <p:cNvPr id="22" name="图片 21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745" y="6514"/>
              <a:ext cx="620" cy="357"/>
            </a:xfrm>
            <a:prstGeom prst="rect">
              <a:avLst/>
            </a:prstGeom>
          </p:spPr>
        </p:pic>
        <p:grpSp>
          <p:nvGrpSpPr>
            <p:cNvPr id="38" name="组合 37"/>
            <p:cNvGrpSpPr/>
            <p:nvPr/>
          </p:nvGrpSpPr>
          <p:grpSpPr>
            <a:xfrm>
              <a:off x="1745" y="7204"/>
              <a:ext cx="2558" cy="1114"/>
              <a:chOff x="8923" y="5741"/>
              <a:chExt cx="2558" cy="1114"/>
            </a:xfrm>
          </p:grpSpPr>
          <p:sp>
            <p:nvSpPr>
              <p:cNvPr id="39" name="矩形 38"/>
              <p:cNvSpPr/>
              <p:nvPr>
                <p:custDataLst>
                  <p:tags r:id="rId12"/>
                </p:custDataLst>
              </p:nvPr>
            </p:nvSpPr>
            <p:spPr>
              <a:xfrm>
                <a:off x="8923" y="5741"/>
                <a:ext cx="2558" cy="111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pSp>
            <p:nvGrpSpPr>
              <p:cNvPr id="40" name="组合 39"/>
              <p:cNvGrpSpPr/>
              <p:nvPr/>
            </p:nvGrpSpPr>
            <p:grpSpPr>
              <a:xfrm>
                <a:off x="9267" y="5860"/>
                <a:ext cx="1871" cy="659"/>
                <a:chOff x="3914" y="1016"/>
                <a:chExt cx="7486" cy="2602"/>
              </a:xfrm>
            </p:grpSpPr>
            <p:pic>
              <p:nvPicPr>
                <p:cNvPr id="41" name="图片 40" descr="file-pdf"/>
                <p:cNvPicPr>
                  <a:picLocks noChangeAspect="1"/>
                </p:cNvPicPr>
                <p:nvPr>
                  <p:custDataLst>
                    <p:tags r:id="rId13"/>
                  </p:custDataLst>
                </p:nvPr>
              </p:nvPicPr>
              <p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14" y="1016"/>
                  <a:ext cx="2603" cy="2603"/>
                </a:xfrm>
                <a:prstGeom prst="rect">
                  <a:avLst/>
                </a:prstGeom>
              </p:spPr>
            </p:pic>
            <p:pic>
              <p:nvPicPr>
                <p:cNvPr id="42" name="图片 41" descr="DOC"/>
                <p:cNvPicPr>
                  <a:picLocks noChangeAspect="1"/>
                </p:cNvPicPr>
                <p:nvPr>
                  <p:custDataLst>
                    <p:tags r:id="rId16"/>
                  </p:custDataLst>
                </p:nvPr>
              </p:nvPicPr>
              <p:blipFill>
                <a:blip r:embed="rId17">
                  <a:extLst>
                    <a:ext uri="{96DAC541-7B7A-43D3-8B79-37D633B846F1}">
                      <asvg:svgBlip xmlns:asvg="http://schemas.microsoft.com/office/drawing/2016/SVG/main" r:embed="rId1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46" y="1040"/>
                  <a:ext cx="2555" cy="2555"/>
                </a:xfrm>
                <a:prstGeom prst="rect">
                  <a:avLst/>
                </a:prstGeom>
              </p:spPr>
            </p:pic>
          </p:grpSp>
          <p:sp>
            <p:nvSpPr>
              <p:cNvPr id="43" name="文本框 42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8923" y="6519"/>
                <a:ext cx="2559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>
                    <a:latin typeface="Times New Roman" panose="02020603050405020304" charset="0"/>
                    <a:cs typeface="Times New Roman" panose="02020603050405020304" charset="0"/>
                  </a:rPr>
                  <a:t>Standard Specification Document</a:t>
                </a:r>
                <a:endParaRPr lang="en-US" altLang="zh-CN" sz="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44" name="组合 43"/>
            <p:cNvGrpSpPr/>
            <p:nvPr/>
          </p:nvGrpSpPr>
          <p:grpSpPr>
            <a:xfrm>
              <a:off x="1746" y="8889"/>
              <a:ext cx="2558" cy="1114"/>
              <a:chOff x="9425" y="2609"/>
              <a:chExt cx="2558" cy="1114"/>
            </a:xfrm>
          </p:grpSpPr>
          <p:sp>
            <p:nvSpPr>
              <p:cNvPr id="45" name="矩形 44"/>
              <p:cNvSpPr/>
              <p:nvPr>
                <p:custDataLst>
                  <p:tags r:id="rId20"/>
                </p:custDataLst>
              </p:nvPr>
            </p:nvSpPr>
            <p:spPr>
              <a:xfrm>
                <a:off x="9425" y="2609"/>
                <a:ext cx="2558" cy="111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6" name="文本框 45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9425" y="3387"/>
                <a:ext cx="2559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>
                    <a:latin typeface="Times New Roman" panose="02020603050405020304" charset="0"/>
                    <a:cs typeface="Times New Roman" panose="02020603050405020304" charset="0"/>
                  </a:rPr>
                  <a:t>Intermediate Representation </a:t>
                </a:r>
                <a:r>
                  <a:rPr lang="en-US" altLang="zh-CN" sz="800">
                    <a:latin typeface="Times New Roman" panose="02020603050405020304" charset="0"/>
                    <a:cs typeface="Times New Roman" panose="02020603050405020304" charset="0"/>
                  </a:rPr>
                  <a:t>Json</a:t>
                </a:r>
                <a:endParaRPr lang="en-US" altLang="zh-CN" sz="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grpSp>
            <p:nvGrpSpPr>
              <p:cNvPr id="47" name="组合 46"/>
              <p:cNvGrpSpPr/>
              <p:nvPr/>
            </p:nvGrpSpPr>
            <p:grpSpPr>
              <a:xfrm>
                <a:off x="9917" y="2671"/>
                <a:ext cx="1499" cy="664"/>
                <a:chOff x="11138" y="1583"/>
                <a:chExt cx="1499" cy="664"/>
              </a:xfrm>
            </p:grpSpPr>
            <p:pic>
              <p:nvPicPr>
                <p:cNvPr id="48" name="图片 47" descr="json输出"/>
                <p:cNvPicPr>
                  <a:picLocks noChangeAspect="1"/>
                </p:cNvPicPr>
                <p:nvPr>
                  <p:custDataLst>
                    <p:tags r:id="rId22"/>
                  </p:custDataLst>
                </p:nvPr>
              </p:nvPicPr>
              <p:blipFill>
                <a:blip r:embed="rId23">
                  <a:extLst>
                    <a:ext uri="{96DAC541-7B7A-43D3-8B79-37D633B846F1}">
                      <asvg:svgBlip xmlns:asvg="http://schemas.microsoft.com/office/drawing/2016/SVG/main" r:embed="rId2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138" y="1632"/>
                  <a:ext cx="528" cy="528"/>
                </a:xfrm>
                <a:prstGeom prst="rect">
                  <a:avLst/>
                </a:prstGeom>
              </p:spPr>
            </p:pic>
            <p:pic>
              <p:nvPicPr>
                <p:cNvPr id="49" name="图片 48" descr="jsonSchema"/>
                <p:cNvPicPr>
                  <a:picLocks noChangeAspect="1"/>
                </p:cNvPicPr>
                <p:nvPr>
                  <p:custDataLst>
                    <p:tags r:id="rId25"/>
                  </p:custDataLst>
                </p:nvPr>
              </p:nvPicPr>
              <p:blipFill>
                <a:blip r:embed="rId26">
                  <a:extLst>
                    <a:ext uri="{96DAC541-7B7A-43D3-8B79-37D633B846F1}">
                      <asvg:svgBlip xmlns:asvg="http://schemas.microsoft.com/office/drawing/2016/SVG/main" r:embed="rId2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973" y="1583"/>
                  <a:ext cx="664" cy="66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50" name="直接箭头连接符 49"/>
            <p:cNvCxnSpPr/>
            <p:nvPr>
              <p:custDataLst>
                <p:tags r:id="rId28"/>
              </p:custDataLst>
            </p:nvPr>
          </p:nvCxnSpPr>
          <p:spPr>
            <a:xfrm>
              <a:off x="3024" y="8319"/>
              <a:ext cx="10" cy="57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1" name="组合 20"/>
          <p:cNvGrpSpPr/>
          <p:nvPr/>
        </p:nvGrpSpPr>
        <p:grpSpPr>
          <a:xfrm>
            <a:off x="4244975" y="4045585"/>
            <a:ext cx="1625600" cy="1751330"/>
            <a:chOff x="6741" y="2025"/>
            <a:chExt cx="2560" cy="2758"/>
          </a:xfrm>
        </p:grpSpPr>
        <p:sp>
          <p:nvSpPr>
            <p:cNvPr id="2" name="矩形 1"/>
            <p:cNvSpPr/>
            <p:nvPr>
              <p:custDataLst>
                <p:tags r:id="rId29"/>
              </p:custDataLst>
            </p:nvPr>
          </p:nvSpPr>
          <p:spPr>
            <a:xfrm>
              <a:off x="6742" y="2025"/>
              <a:ext cx="2558" cy="11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4" name="图片 3" descr="json输入"/>
            <p:cNvPicPr>
              <a:picLocks noChangeAspect="1"/>
            </p:cNvPicPr>
            <p:nvPr>
              <p:custDataLst>
                <p:tags r:id="rId30"/>
              </p:custDataLst>
            </p:nvPr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7721" y="2143"/>
              <a:ext cx="600" cy="600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>
              <p:custDataLst>
                <p:tags r:id="rId33"/>
              </p:custDataLst>
            </p:nvPr>
          </p:nvSpPr>
          <p:spPr>
            <a:xfrm>
              <a:off x="7410" y="2803"/>
              <a:ext cx="1221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800">
                  <a:latin typeface="Times New Roman" panose="02020603050405020304" charset="0"/>
                  <a:cs typeface="Times New Roman" panose="02020603050405020304" charset="0"/>
                </a:rPr>
                <a:t>Retrieved IR</a:t>
              </a:r>
              <a:endParaRPr lang="en-US" altLang="zh-CN" sz="8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6741" y="3669"/>
              <a:ext cx="2560" cy="11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6741" y="4443"/>
              <a:ext cx="2560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800">
                  <a:latin typeface="Times New Roman" panose="02020603050405020304" charset="0"/>
                  <a:cs typeface="Times New Roman" panose="02020603050405020304" charset="0"/>
                </a:rPr>
                <a:t>Generated Cryptol </a:t>
              </a:r>
              <a:r>
                <a:rPr lang="en-US" altLang="zh-CN" sz="800">
                  <a:latin typeface="Times New Roman" panose="02020603050405020304" charset="0"/>
                  <a:cs typeface="Times New Roman" panose="02020603050405020304" charset="0"/>
                </a:rPr>
                <a:t>Code</a:t>
              </a:r>
              <a:endParaRPr lang="en-US" altLang="zh-CN" sz="8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pic>
          <p:nvPicPr>
            <p:cNvPr id="16" name="图片 15" descr="代码文件"/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7697" y="3780"/>
              <a:ext cx="647" cy="647"/>
            </a:xfrm>
            <a:prstGeom prst="rect">
              <a:avLst/>
            </a:prstGeom>
          </p:spPr>
        </p:pic>
        <p:cxnSp>
          <p:nvCxnSpPr>
            <p:cNvPr id="23" name="直接箭头连接符 22"/>
            <p:cNvCxnSpPr>
              <a:stCxn id="10" idx="2"/>
              <a:endCxn id="5" idx="0"/>
            </p:cNvCxnSpPr>
            <p:nvPr/>
          </p:nvCxnSpPr>
          <p:spPr>
            <a:xfrm>
              <a:off x="8021" y="3140"/>
              <a:ext cx="0" cy="529"/>
            </a:xfrm>
            <a:prstGeom prst="straightConnector1">
              <a:avLst/>
            </a:prstGeom>
            <a:ln w="15875">
              <a:solidFill>
                <a:srgbClr val="20202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圆角矩形 58"/>
          <p:cNvSpPr/>
          <p:nvPr/>
        </p:nvSpPr>
        <p:spPr>
          <a:xfrm>
            <a:off x="9554210" y="2374265"/>
            <a:ext cx="1903095" cy="110299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243205" y="829310"/>
            <a:ext cx="1595755" cy="2647950"/>
          </a:xfrm>
          <a:prstGeom prst="roundRect">
            <a:avLst>
              <a:gd name="adj" fmla="val 6639"/>
            </a:avLst>
          </a:prstGeom>
          <a:solidFill>
            <a:srgbClr val="E8E8E8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860" y="1334770"/>
            <a:ext cx="528320" cy="55181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772795" y="1429385"/>
            <a:ext cx="1064260" cy="363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Specification </a:t>
            </a:r>
            <a:endParaRPr lang="en-US" altLang="zh-CN" sz="10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000" b="1">
                <a:latin typeface="Times New Roman" panose="02020603050405020304" charset="0"/>
                <a:cs typeface="Times New Roman" panose="02020603050405020304" charset="0"/>
              </a:rPr>
              <a:t>Document</a:t>
            </a:r>
            <a:endParaRPr lang="zh-CN" altLang="en-US" sz="1000" b="1"/>
          </a:p>
        </p:txBody>
      </p:sp>
      <p:sp>
        <p:nvSpPr>
          <p:cNvPr id="18" name="文本框 17"/>
          <p:cNvSpPr txBox="1"/>
          <p:nvPr/>
        </p:nvSpPr>
        <p:spPr>
          <a:xfrm>
            <a:off x="286385" y="1978025"/>
            <a:ext cx="1510030" cy="1332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e.g., Algorithm 1 ForExample():</a:t>
            </a:r>
            <a:endParaRPr lang="en-US" altLang="zh-CN" sz="800" i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Performs two simple for loops. </a:t>
            </a:r>
            <a:endParaRPr lang="en-US" altLang="zh-CN" sz="800" i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1: for (i</a:t>
            </a:r>
            <a:r>
              <a:rPr lang="en-US" altLang="en-US" sz="800" i="1">
                <a:latin typeface="Times New Roman" panose="02020603050405020304" charset="0"/>
                <a:cs typeface="Times New Roman" panose="02020603050405020304" charset="0"/>
              </a:rPr>
              <a:t>←</a:t>
            </a:r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 0; i&lt; 10;</a:t>
            </a:r>
            <a:r>
              <a:rPr lang="en-US" sz="800" i="1">
                <a:latin typeface="Times New Roman" panose="02020603050405020304" charset="0"/>
                <a:cs typeface="Times New Roman" panose="02020603050405020304" charset="0"/>
              </a:rPr>
              <a:t>i</a:t>
            </a:r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++) </a:t>
            </a:r>
            <a:endParaRPr lang="en-US" altLang="zh-CN" sz="800" i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2: </a:t>
            </a:r>
            <a:r>
              <a:rPr lang="zh-CN" altLang="en-US" sz="800" i="1">
                <a:latin typeface="Times New Roman" panose="02020603050405020304" charset="0"/>
                <a:cs typeface="Times New Roman" panose="02020603050405020304" charset="0"/>
              </a:rPr>
              <a:t>𝐴</a:t>
            </a:r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[i] </a:t>
            </a:r>
            <a:r>
              <a:rPr lang="en-US" altLang="en-US" sz="800" i="1">
                <a:latin typeface="Times New Roman" panose="02020603050405020304" charset="0"/>
                <a:cs typeface="Times New Roman" panose="02020603050405020304" charset="0"/>
              </a:rPr>
              <a:t>←</a:t>
            </a:r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 i </a:t>
            </a:r>
            <a:endParaRPr lang="en-US" altLang="zh-CN" sz="800" i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3: end for </a:t>
            </a:r>
            <a:endParaRPr lang="en-US" altLang="zh-CN" sz="800" i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4:</a:t>
            </a:r>
            <a:r>
              <a:rPr lang="en-US" sz="800" i="1">
                <a:latin typeface="Times New Roman" panose="02020603050405020304" charset="0"/>
                <a:cs typeface="Times New Roman" panose="02020603050405020304" charset="0"/>
              </a:rPr>
              <a:t>j</a:t>
            </a:r>
            <a:r>
              <a:rPr lang="en-US" altLang="en-US" sz="800" i="1">
                <a:latin typeface="Times New Roman" panose="02020603050405020304" charset="0"/>
                <a:cs typeface="Times New Roman" panose="02020603050405020304" charset="0"/>
              </a:rPr>
              <a:t>←</a:t>
            </a:r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0</a:t>
            </a:r>
            <a:endParaRPr lang="en-US" altLang="zh-CN" sz="800" i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5: for (k </a:t>
            </a:r>
            <a:r>
              <a:rPr lang="en-US" altLang="en-US" sz="800" i="1">
                <a:latin typeface="Times New Roman" panose="02020603050405020304" charset="0"/>
                <a:cs typeface="Times New Roman" panose="02020603050405020304" charset="0"/>
              </a:rPr>
              <a:t>←</a:t>
            </a:r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 256; k &gt; 1; k </a:t>
            </a:r>
            <a:r>
              <a:rPr lang="en-US" altLang="en-US" sz="800" i="1">
                <a:latin typeface="Times New Roman" panose="02020603050405020304" charset="0"/>
                <a:cs typeface="Times New Roman" panose="02020603050405020304" charset="0"/>
              </a:rPr>
              <a:t>←</a:t>
            </a:r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 k/2) </a:t>
            </a:r>
            <a:endParaRPr lang="en-US" altLang="zh-CN" sz="800" i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6: </a:t>
            </a:r>
            <a:r>
              <a:rPr lang="zh-CN" altLang="en-US" sz="800" i="1">
                <a:latin typeface="Times New Roman" panose="02020603050405020304" charset="0"/>
                <a:cs typeface="Times New Roman" panose="02020603050405020304" charset="0"/>
              </a:rPr>
              <a:t>𝐵</a:t>
            </a:r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[j] </a:t>
            </a:r>
            <a:r>
              <a:rPr lang="en-US" altLang="en-US" sz="800" i="1">
                <a:latin typeface="Times New Roman" panose="02020603050405020304" charset="0"/>
                <a:cs typeface="Times New Roman" panose="02020603050405020304" charset="0"/>
              </a:rPr>
              <a:t>←</a:t>
            </a:r>
            <a:r>
              <a:rPr lang="en-US" sz="800" i="1">
                <a:latin typeface="Times New Roman" panose="02020603050405020304" charset="0"/>
                <a:cs typeface="Times New Roman" panose="02020603050405020304" charset="0"/>
              </a:rPr>
              <a:t>k</a:t>
            </a:r>
            <a:endParaRPr lang="en-US" altLang="zh-CN" sz="800" i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7: </a:t>
            </a:r>
            <a:r>
              <a:rPr lang="en-US" sz="800" i="1">
                <a:latin typeface="Times New Roman" panose="02020603050405020304" charset="0"/>
                <a:cs typeface="Times New Roman" panose="02020603050405020304" charset="0"/>
              </a:rPr>
              <a:t>j</a:t>
            </a:r>
            <a:r>
              <a:rPr lang="en-US" altLang="en-US" sz="800" i="1">
                <a:latin typeface="Times New Roman" panose="02020603050405020304" charset="0"/>
                <a:cs typeface="Times New Roman" panose="02020603050405020304" charset="0"/>
              </a:rPr>
              <a:t>←</a:t>
            </a:r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sz="800" i="1">
                <a:latin typeface="Times New Roman" panose="02020603050405020304" charset="0"/>
                <a:cs typeface="Times New Roman" panose="02020603050405020304" charset="0"/>
              </a:rPr>
              <a:t>j</a:t>
            </a:r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+ 1 </a:t>
            </a:r>
            <a:endParaRPr lang="en-US" altLang="zh-CN" sz="800" i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800" i="1">
                <a:latin typeface="Times New Roman" panose="02020603050405020304" charset="0"/>
                <a:cs typeface="Times New Roman" panose="02020603050405020304" charset="0"/>
              </a:rPr>
              <a:t>8: end for </a:t>
            </a:r>
            <a:endParaRPr lang="zh-CN" altLang="en-US" sz="800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圆角矩形 6"/>
          <p:cNvSpPr/>
          <p:nvPr>
            <p:custDataLst>
              <p:tags r:id="rId2"/>
            </p:custDataLst>
          </p:nvPr>
        </p:nvSpPr>
        <p:spPr>
          <a:xfrm>
            <a:off x="2131695" y="607695"/>
            <a:ext cx="1892935" cy="2869565"/>
          </a:xfrm>
          <a:prstGeom prst="roundRect">
            <a:avLst>
              <a:gd name="adj" fmla="val 4082"/>
            </a:avLst>
          </a:prstGeom>
          <a:solidFill>
            <a:srgbClr val="F8EFFF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2656840" y="676910"/>
            <a:ext cx="14103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u="sng">
                <a:latin typeface="Times New Roman" panose="02020603050405020304" charset="0"/>
                <a:cs typeface="Times New Roman" panose="02020603050405020304" charset="0"/>
              </a:rPr>
              <a:t>Spec2IR Agent</a:t>
            </a:r>
            <a:endParaRPr lang="en-US" altLang="zh-CN" sz="1200" u="sng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63140" y="701675"/>
            <a:ext cx="393700" cy="226695"/>
          </a:xfrm>
          <a:prstGeom prst="rect">
            <a:avLst/>
          </a:prstGeom>
        </p:spPr>
      </p:pic>
      <p:sp>
        <p:nvSpPr>
          <p:cNvPr id="39" name="矩形 38"/>
          <p:cNvSpPr/>
          <p:nvPr>
            <p:custDataLst>
              <p:tags r:id="rId6"/>
            </p:custDataLst>
          </p:nvPr>
        </p:nvSpPr>
        <p:spPr>
          <a:xfrm>
            <a:off x="2263140" y="1139825"/>
            <a:ext cx="1624330" cy="7080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0" name="组合 39"/>
          <p:cNvGrpSpPr/>
          <p:nvPr/>
        </p:nvGrpSpPr>
        <p:grpSpPr>
          <a:xfrm rot="0">
            <a:off x="2481580" y="1215390"/>
            <a:ext cx="1188085" cy="418465"/>
            <a:chOff x="3914" y="1016"/>
            <a:chExt cx="7486" cy="2602"/>
          </a:xfrm>
        </p:grpSpPr>
        <p:pic>
          <p:nvPicPr>
            <p:cNvPr id="41" name="图片 40" descr="file-pdf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914" y="1016"/>
              <a:ext cx="2603" cy="2603"/>
            </a:xfrm>
            <a:prstGeom prst="rect">
              <a:avLst/>
            </a:prstGeom>
          </p:spPr>
        </p:pic>
        <p:pic>
          <p:nvPicPr>
            <p:cNvPr id="42" name="图片 41" descr="DOC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846" y="1040"/>
              <a:ext cx="2555" cy="2555"/>
            </a:xfrm>
            <a:prstGeom prst="rect">
              <a:avLst/>
            </a:prstGeom>
          </p:spPr>
        </p:pic>
      </p:grpSp>
      <p:sp>
        <p:nvSpPr>
          <p:cNvPr id="43" name="文本框 42"/>
          <p:cNvSpPr txBox="1"/>
          <p:nvPr>
            <p:custDataLst>
              <p:tags r:id="rId13"/>
            </p:custDataLst>
          </p:nvPr>
        </p:nvSpPr>
        <p:spPr>
          <a:xfrm>
            <a:off x="2263140" y="1633855"/>
            <a:ext cx="162496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</a:rPr>
              <a:t>Standard Specification Document</a:t>
            </a:r>
            <a:endParaRPr lang="en-US" altLang="zh-CN" sz="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5" name="矩形 44"/>
          <p:cNvSpPr/>
          <p:nvPr>
            <p:custDataLst>
              <p:tags r:id="rId14"/>
            </p:custDataLst>
          </p:nvPr>
        </p:nvSpPr>
        <p:spPr>
          <a:xfrm>
            <a:off x="2263775" y="2209800"/>
            <a:ext cx="1624330" cy="7080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>
            <p:custDataLst>
              <p:tags r:id="rId15"/>
            </p:custDataLst>
          </p:nvPr>
        </p:nvSpPr>
        <p:spPr>
          <a:xfrm>
            <a:off x="2263775" y="2703830"/>
            <a:ext cx="162496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</a:rPr>
              <a:t>Intermediate Representation </a:t>
            </a:r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</a:rPr>
              <a:t>Json</a:t>
            </a:r>
            <a:endParaRPr lang="en-US" altLang="zh-CN" sz="8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47" name="组合 46"/>
          <p:cNvGrpSpPr/>
          <p:nvPr/>
        </p:nvGrpSpPr>
        <p:grpSpPr>
          <a:xfrm rot="0">
            <a:off x="2576195" y="2249170"/>
            <a:ext cx="951865" cy="421640"/>
            <a:chOff x="11138" y="1583"/>
            <a:chExt cx="1499" cy="664"/>
          </a:xfrm>
        </p:grpSpPr>
        <p:pic>
          <p:nvPicPr>
            <p:cNvPr id="48" name="图片 47" descr="json输出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1138" y="1632"/>
              <a:ext cx="528" cy="528"/>
            </a:xfrm>
            <a:prstGeom prst="rect">
              <a:avLst/>
            </a:prstGeom>
          </p:spPr>
        </p:pic>
        <p:pic>
          <p:nvPicPr>
            <p:cNvPr id="49" name="图片 48" descr="jsonSchema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1973" y="1583"/>
              <a:ext cx="664" cy="664"/>
            </a:xfrm>
            <a:prstGeom prst="rect">
              <a:avLst/>
            </a:prstGeom>
          </p:spPr>
        </p:pic>
      </p:grpSp>
      <p:cxnSp>
        <p:nvCxnSpPr>
          <p:cNvPr id="50" name="直接箭头连接符 49"/>
          <p:cNvCxnSpPr/>
          <p:nvPr>
            <p:custDataLst>
              <p:tags r:id="rId22"/>
            </p:custDataLst>
          </p:nvPr>
        </p:nvCxnSpPr>
        <p:spPr>
          <a:xfrm>
            <a:off x="3075305" y="1847850"/>
            <a:ext cx="6350" cy="361950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圆角矩形 7"/>
          <p:cNvSpPr/>
          <p:nvPr/>
        </p:nvSpPr>
        <p:spPr>
          <a:xfrm>
            <a:off x="4317365" y="637540"/>
            <a:ext cx="1893570" cy="2839720"/>
          </a:xfrm>
          <a:prstGeom prst="roundRect">
            <a:avLst>
              <a:gd name="adj" fmla="val 6812"/>
            </a:avLst>
          </a:prstGeom>
          <a:solidFill>
            <a:srgbClr val="DEEFFE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23"/>
            </p:custDataLst>
          </p:nvPr>
        </p:nvSpPr>
        <p:spPr>
          <a:xfrm>
            <a:off x="4799330" y="690880"/>
            <a:ext cx="18281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u="sng">
                <a:latin typeface="Times New Roman" panose="02020603050405020304" charset="0"/>
                <a:cs typeface="Times New Roman" panose="02020603050405020304" charset="0"/>
              </a:rPr>
              <a:t>IR2Cryptol Agent</a:t>
            </a:r>
            <a:endParaRPr lang="en-US" altLang="zh-CN" sz="1200" u="sng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4337685" y="718185"/>
            <a:ext cx="426720" cy="279400"/>
          </a:xfrm>
          <a:prstGeom prst="rect">
            <a:avLst/>
          </a:prstGeom>
        </p:spPr>
      </p:pic>
      <p:sp>
        <p:nvSpPr>
          <p:cNvPr id="2" name="矩形 1"/>
          <p:cNvSpPr/>
          <p:nvPr>
            <p:custDataLst>
              <p:tags r:id="rId26"/>
            </p:custDataLst>
          </p:nvPr>
        </p:nvSpPr>
        <p:spPr>
          <a:xfrm>
            <a:off x="4449445" y="1174750"/>
            <a:ext cx="1624330" cy="7080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 descr="json输入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071110" y="1249680"/>
            <a:ext cx="381000" cy="381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30"/>
            </p:custDataLst>
          </p:nvPr>
        </p:nvSpPr>
        <p:spPr>
          <a:xfrm>
            <a:off x="4873625" y="1668780"/>
            <a:ext cx="77533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</a:rPr>
              <a:t>Retrieved IR</a:t>
            </a:r>
            <a:endParaRPr lang="en-US" altLang="zh-CN" sz="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448810" y="2218690"/>
            <a:ext cx="1625600" cy="7080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448810" y="2710180"/>
            <a:ext cx="162560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</a:rPr>
              <a:t>Generated Cryptol </a:t>
            </a:r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</a:rPr>
              <a:t>Code</a:t>
            </a:r>
            <a:endParaRPr lang="en-US" altLang="zh-CN" sz="8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6" name="图片 15" descr="代码文件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055870" y="2289175"/>
            <a:ext cx="410845" cy="410845"/>
          </a:xfrm>
          <a:prstGeom prst="rect">
            <a:avLst/>
          </a:prstGeom>
        </p:spPr>
      </p:pic>
      <p:cxnSp>
        <p:nvCxnSpPr>
          <p:cNvPr id="23" name="直接箭头连接符 22"/>
          <p:cNvCxnSpPr>
            <a:stCxn id="10" idx="2"/>
            <a:endCxn id="5" idx="0"/>
          </p:cNvCxnSpPr>
          <p:nvPr/>
        </p:nvCxnSpPr>
        <p:spPr>
          <a:xfrm>
            <a:off x="5261610" y="1882775"/>
            <a:ext cx="0" cy="335915"/>
          </a:xfrm>
          <a:prstGeom prst="straightConnector1">
            <a:avLst/>
          </a:prstGeom>
          <a:ln w="15875">
            <a:solidFill>
              <a:srgbClr val="20202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圆角矩形 28"/>
          <p:cNvSpPr/>
          <p:nvPr/>
        </p:nvSpPr>
        <p:spPr>
          <a:xfrm>
            <a:off x="6503670" y="636270"/>
            <a:ext cx="2757805" cy="2840990"/>
          </a:xfrm>
          <a:prstGeom prst="roundRect">
            <a:avLst>
              <a:gd name="adj" fmla="val 5717"/>
            </a:avLst>
          </a:prstGeom>
          <a:solidFill>
            <a:srgbClr val="EDFAF2"/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6618605" y="755015"/>
            <a:ext cx="27565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u="sng">
                <a:solidFill>
                  <a:schemeClr val="tx1"/>
                </a:solidFill>
                <a:uFillTx/>
                <a:latin typeface="Times New Roman" panose="02020603050405020304" charset="0"/>
                <a:cs typeface="Times New Roman" panose="02020603050405020304" charset="0"/>
              </a:rPr>
              <a:t>Compilation &amp; Fixing Agent</a:t>
            </a:r>
            <a:endParaRPr lang="en-US" altLang="zh-CN" sz="1400" u="sng">
              <a:solidFill>
                <a:schemeClr val="tx1"/>
              </a:solidFill>
              <a:uFillTx/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3"/>
          <a:srcRect l="4270" t="1620" r="10331" b="13844"/>
          <a:stretch>
            <a:fillRect/>
          </a:stretch>
        </p:blipFill>
        <p:spPr>
          <a:xfrm>
            <a:off x="6618605" y="767080"/>
            <a:ext cx="318135" cy="294640"/>
          </a:xfrm>
          <a:prstGeom prst="rect">
            <a:avLst/>
          </a:prstGeom>
        </p:spPr>
      </p:pic>
      <p:sp>
        <p:nvSpPr>
          <p:cNvPr id="34" name="矩形 33"/>
          <p:cNvSpPr/>
          <p:nvPr>
            <p:custDataLst>
              <p:tags r:id="rId34"/>
            </p:custDataLst>
          </p:nvPr>
        </p:nvSpPr>
        <p:spPr>
          <a:xfrm>
            <a:off x="7070725" y="2228850"/>
            <a:ext cx="1624330" cy="6680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 34"/>
          <p:cNvSpPr/>
          <p:nvPr>
            <p:custDataLst>
              <p:tags r:id="rId35"/>
            </p:custDataLst>
          </p:nvPr>
        </p:nvSpPr>
        <p:spPr>
          <a:xfrm>
            <a:off x="7070725" y="1144270"/>
            <a:ext cx="1624330" cy="6680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/>
          <a:stretch>
            <a:fillRect/>
          </a:stretch>
        </p:blipFill>
        <p:spPr>
          <a:xfrm>
            <a:off x="7702550" y="1245870"/>
            <a:ext cx="381533" cy="360000"/>
          </a:xfrm>
          <a:prstGeom prst="rect">
            <a:avLst/>
          </a:prstGeom>
        </p:spPr>
      </p:pic>
      <p:pic>
        <p:nvPicPr>
          <p:cNvPr id="37" name="图片 36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/>
          <a:stretch>
            <a:fillRect/>
          </a:stretch>
        </p:blipFill>
        <p:spPr>
          <a:xfrm>
            <a:off x="7702550" y="2254250"/>
            <a:ext cx="381533" cy="360000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/>
          <a:stretch>
            <a:fillRect/>
          </a:stretch>
        </p:blipFill>
        <p:spPr>
          <a:xfrm rot="5400000" flipH="1">
            <a:off x="7712754" y="1840866"/>
            <a:ext cx="339682" cy="360000"/>
          </a:xfrm>
          <a:prstGeom prst="rect">
            <a:avLst/>
          </a:prstGeom>
        </p:spPr>
      </p:pic>
      <p:sp>
        <p:nvSpPr>
          <p:cNvPr id="53" name="文本框 52"/>
          <p:cNvSpPr txBox="1"/>
          <p:nvPr>
            <p:custDataLst>
              <p:tags r:id="rId42"/>
            </p:custDataLst>
          </p:nvPr>
        </p:nvSpPr>
        <p:spPr>
          <a:xfrm>
            <a:off x="7061200" y="1557020"/>
            <a:ext cx="16243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Iterative Compilation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4" name="文本框 53"/>
          <p:cNvSpPr txBox="1"/>
          <p:nvPr>
            <p:custDataLst>
              <p:tags r:id="rId43"/>
            </p:custDataLst>
          </p:nvPr>
        </p:nvSpPr>
        <p:spPr>
          <a:xfrm>
            <a:off x="7070725" y="2635885"/>
            <a:ext cx="16236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Fixes Generated Code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7" name="图片 56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631045" y="2896870"/>
            <a:ext cx="297180" cy="297180"/>
          </a:xfrm>
          <a:prstGeom prst="rect">
            <a:avLst/>
          </a:prstGeom>
        </p:spPr>
      </p:pic>
      <p:sp>
        <p:nvSpPr>
          <p:cNvPr id="58" name="文本框 57"/>
          <p:cNvSpPr txBox="1"/>
          <p:nvPr/>
        </p:nvSpPr>
        <p:spPr>
          <a:xfrm>
            <a:off x="513080" y="875665"/>
            <a:ext cx="1047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Input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9627235" y="2374265"/>
            <a:ext cx="1171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Output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9928225" y="2956560"/>
            <a:ext cx="17640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Final Cryptol Code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1838960" y="1940243"/>
            <a:ext cx="292735" cy="29273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4024630" y="1940243"/>
            <a:ext cx="292735" cy="29273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210935" y="1940243"/>
            <a:ext cx="292735" cy="29273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261475" y="2742565"/>
            <a:ext cx="292735" cy="2927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圆角矩形 84"/>
          <p:cNvSpPr/>
          <p:nvPr/>
        </p:nvSpPr>
        <p:spPr>
          <a:xfrm>
            <a:off x="43180" y="528955"/>
            <a:ext cx="10801350" cy="5761355"/>
          </a:xfrm>
          <a:prstGeom prst="roundRect">
            <a:avLst>
              <a:gd name="adj" fmla="val 6072"/>
            </a:avLst>
          </a:prstGeom>
          <a:solidFill>
            <a:schemeClr val="bg1"/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84" name="组合 83"/>
          <p:cNvGrpSpPr/>
          <p:nvPr/>
        </p:nvGrpSpPr>
        <p:grpSpPr>
          <a:xfrm>
            <a:off x="233680" y="735965"/>
            <a:ext cx="1595120" cy="2091055"/>
            <a:chOff x="383" y="1920"/>
            <a:chExt cx="2512" cy="3293"/>
          </a:xfrm>
        </p:grpSpPr>
        <p:sp>
          <p:nvSpPr>
            <p:cNvPr id="3" name="圆角矩形 2"/>
            <p:cNvSpPr/>
            <p:nvPr/>
          </p:nvSpPr>
          <p:spPr>
            <a:xfrm>
              <a:off x="383" y="1920"/>
              <a:ext cx="2513" cy="3293"/>
            </a:xfrm>
            <a:prstGeom prst="roundRect">
              <a:avLst>
                <a:gd name="adj" fmla="val 6639"/>
              </a:avLst>
            </a:prstGeom>
            <a:solidFill>
              <a:srgbClr val="E8E8E8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36" y="2102"/>
              <a:ext cx="832" cy="869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1217" y="2251"/>
              <a:ext cx="1676" cy="57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Specification </a:t>
              </a:r>
              <a:endParaRPr lang="en-US" altLang="zh-CN" sz="1000" b="1"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 sz="1000" b="1">
                  <a:latin typeface="Times New Roman" panose="02020603050405020304" charset="0"/>
                  <a:cs typeface="Times New Roman" panose="02020603050405020304" charset="0"/>
                </a:rPr>
                <a:t>Document</a:t>
              </a:r>
              <a:endParaRPr lang="zh-CN" altLang="en-US" sz="1000" b="1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451" y="3115"/>
              <a:ext cx="2378" cy="20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800" i="1">
                  <a:latin typeface="Times New Roman" panose="02020603050405020304" charset="0"/>
                  <a:cs typeface="Times New Roman" panose="02020603050405020304" charset="0"/>
                </a:rPr>
                <a:t>e.g., Algorithm 1 ForExample():</a:t>
              </a:r>
              <a:endParaRPr lang="en-US" altLang="zh-CN" sz="800" i="1"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 sz="800" i="1">
                  <a:latin typeface="Times New Roman" panose="02020603050405020304" charset="0"/>
                  <a:cs typeface="Times New Roman" panose="02020603050405020304" charset="0"/>
                </a:rPr>
                <a:t>Performs two simple for loops. </a:t>
              </a:r>
              <a:endParaRPr lang="en-US" altLang="zh-CN" sz="800" i="1"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 sz="800" i="1">
                  <a:latin typeface="Times New Roman" panose="02020603050405020304" charset="0"/>
                  <a:cs typeface="Times New Roman" panose="02020603050405020304" charset="0"/>
                </a:rPr>
                <a:t>1: for (i</a:t>
              </a:r>
              <a:r>
                <a:rPr lang="en-US" altLang="en-US" sz="800" i="1">
                  <a:latin typeface="Times New Roman" panose="02020603050405020304" charset="0"/>
                  <a:cs typeface="Times New Roman" panose="02020603050405020304" charset="0"/>
                </a:rPr>
                <a:t>←</a:t>
              </a:r>
              <a:r>
                <a:rPr lang="en-US" altLang="zh-CN" sz="800" i="1">
                  <a:latin typeface="Times New Roman" panose="02020603050405020304" charset="0"/>
                  <a:cs typeface="Times New Roman" panose="02020603050405020304" charset="0"/>
                </a:rPr>
                <a:t> 0; i&lt; 10;</a:t>
              </a:r>
              <a:r>
                <a:rPr lang="en-US" sz="800" i="1">
                  <a:latin typeface="Times New Roman" panose="02020603050405020304" charset="0"/>
                  <a:cs typeface="Times New Roman" panose="02020603050405020304" charset="0"/>
                </a:rPr>
                <a:t>i</a:t>
              </a:r>
              <a:r>
                <a:rPr lang="en-US" altLang="zh-CN" sz="800" i="1">
                  <a:latin typeface="Times New Roman" panose="02020603050405020304" charset="0"/>
                  <a:cs typeface="Times New Roman" panose="02020603050405020304" charset="0"/>
                </a:rPr>
                <a:t>++) </a:t>
              </a:r>
              <a:endParaRPr lang="en-US" altLang="zh-CN" sz="800" i="1"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 sz="800" i="1">
                  <a:latin typeface="Times New Roman" panose="02020603050405020304" charset="0"/>
                  <a:cs typeface="Times New Roman" panose="02020603050405020304" charset="0"/>
                </a:rPr>
                <a:t>2: </a:t>
              </a:r>
              <a:r>
                <a:rPr lang="zh-CN" altLang="en-US" sz="800" i="1">
                  <a:latin typeface="Times New Roman" panose="02020603050405020304" charset="0"/>
                  <a:cs typeface="Times New Roman" panose="02020603050405020304" charset="0"/>
                </a:rPr>
                <a:t>𝐴</a:t>
              </a:r>
              <a:r>
                <a:rPr lang="en-US" altLang="zh-CN" sz="800" i="1">
                  <a:latin typeface="Times New Roman" panose="02020603050405020304" charset="0"/>
                  <a:cs typeface="Times New Roman" panose="02020603050405020304" charset="0"/>
                </a:rPr>
                <a:t>[i] </a:t>
              </a:r>
              <a:r>
                <a:rPr lang="en-US" altLang="en-US" sz="800" i="1">
                  <a:latin typeface="Times New Roman" panose="02020603050405020304" charset="0"/>
                  <a:cs typeface="Times New Roman" panose="02020603050405020304" charset="0"/>
                </a:rPr>
                <a:t>←</a:t>
              </a:r>
              <a:r>
                <a:rPr lang="en-US" altLang="zh-CN" sz="800" i="1">
                  <a:latin typeface="Times New Roman" panose="02020603050405020304" charset="0"/>
                  <a:cs typeface="Times New Roman" panose="02020603050405020304" charset="0"/>
                </a:rPr>
                <a:t> i </a:t>
              </a:r>
              <a:endParaRPr lang="en-US" altLang="zh-CN" sz="800" i="1"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 sz="800" i="1">
                  <a:latin typeface="Times New Roman" panose="02020603050405020304" charset="0"/>
                  <a:cs typeface="Times New Roman" panose="02020603050405020304" charset="0"/>
                </a:rPr>
                <a:t>3: end for </a:t>
              </a:r>
              <a:endParaRPr lang="en-US" altLang="zh-CN" sz="800" i="1"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 sz="800" i="1">
                  <a:latin typeface="Times New Roman" panose="02020603050405020304" charset="0"/>
                  <a:cs typeface="Times New Roman" panose="02020603050405020304" charset="0"/>
                </a:rPr>
                <a:t>4:</a:t>
              </a:r>
              <a:r>
                <a:rPr lang="en-US" sz="800" i="1">
                  <a:latin typeface="Times New Roman" panose="02020603050405020304" charset="0"/>
                  <a:cs typeface="Times New Roman" panose="02020603050405020304" charset="0"/>
                </a:rPr>
                <a:t>j</a:t>
              </a:r>
              <a:r>
                <a:rPr lang="en-US" altLang="en-US" sz="800" i="1">
                  <a:latin typeface="Times New Roman" panose="02020603050405020304" charset="0"/>
                  <a:cs typeface="Times New Roman" panose="02020603050405020304" charset="0"/>
                </a:rPr>
                <a:t>←</a:t>
              </a:r>
              <a:r>
                <a:rPr lang="en-US" altLang="zh-CN" sz="800" i="1">
                  <a:latin typeface="Times New Roman" panose="02020603050405020304" charset="0"/>
                  <a:cs typeface="Times New Roman" panose="02020603050405020304" charset="0"/>
                </a:rPr>
                <a:t>0</a:t>
              </a:r>
              <a:endParaRPr lang="en-US" altLang="zh-CN" sz="800" i="1"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 sz="800" i="1">
                  <a:latin typeface="Times New Roman" panose="02020603050405020304" charset="0"/>
                  <a:cs typeface="Times New Roman" panose="02020603050405020304" charset="0"/>
                </a:rPr>
                <a:t>5: for (k </a:t>
              </a:r>
              <a:r>
                <a:rPr lang="en-US" altLang="en-US" sz="800" i="1">
                  <a:latin typeface="Times New Roman" panose="02020603050405020304" charset="0"/>
                  <a:cs typeface="Times New Roman" panose="02020603050405020304" charset="0"/>
                </a:rPr>
                <a:t>←</a:t>
              </a:r>
              <a:r>
                <a:rPr lang="en-US" altLang="zh-CN" sz="800" i="1">
                  <a:latin typeface="Times New Roman" panose="02020603050405020304" charset="0"/>
                  <a:cs typeface="Times New Roman" panose="02020603050405020304" charset="0"/>
                </a:rPr>
                <a:t> 256; k &gt; 1; k </a:t>
              </a:r>
              <a:r>
                <a:rPr lang="en-US" altLang="en-US" sz="800" i="1">
                  <a:latin typeface="Times New Roman" panose="02020603050405020304" charset="0"/>
                  <a:cs typeface="Times New Roman" panose="02020603050405020304" charset="0"/>
                </a:rPr>
                <a:t>←</a:t>
              </a:r>
              <a:r>
                <a:rPr lang="en-US" altLang="zh-CN" sz="800" i="1">
                  <a:latin typeface="Times New Roman" panose="02020603050405020304" charset="0"/>
                  <a:cs typeface="Times New Roman" panose="02020603050405020304" charset="0"/>
                </a:rPr>
                <a:t> k/2) </a:t>
              </a:r>
              <a:endParaRPr lang="en-US" altLang="zh-CN" sz="800" i="1"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 sz="800" i="1">
                  <a:latin typeface="Times New Roman" panose="02020603050405020304" charset="0"/>
                  <a:cs typeface="Times New Roman" panose="02020603050405020304" charset="0"/>
                </a:rPr>
                <a:t>6: </a:t>
              </a:r>
              <a:r>
                <a:rPr lang="zh-CN" altLang="en-US" sz="800" i="1">
                  <a:latin typeface="Times New Roman" panose="02020603050405020304" charset="0"/>
                  <a:cs typeface="Times New Roman" panose="02020603050405020304" charset="0"/>
                </a:rPr>
                <a:t>𝐵</a:t>
              </a:r>
              <a:r>
                <a:rPr lang="en-US" altLang="zh-CN" sz="800" i="1">
                  <a:latin typeface="Times New Roman" panose="02020603050405020304" charset="0"/>
                  <a:cs typeface="Times New Roman" panose="02020603050405020304" charset="0"/>
                </a:rPr>
                <a:t>[j] </a:t>
              </a:r>
              <a:r>
                <a:rPr lang="en-US" altLang="en-US" sz="800" i="1">
                  <a:latin typeface="Times New Roman" panose="02020603050405020304" charset="0"/>
                  <a:cs typeface="Times New Roman" panose="02020603050405020304" charset="0"/>
                </a:rPr>
                <a:t>←</a:t>
              </a:r>
              <a:r>
                <a:rPr lang="en-US" sz="800" i="1">
                  <a:latin typeface="Times New Roman" panose="02020603050405020304" charset="0"/>
                  <a:cs typeface="Times New Roman" panose="02020603050405020304" charset="0"/>
                </a:rPr>
                <a:t>k</a:t>
              </a:r>
              <a:endParaRPr lang="en-US" altLang="zh-CN" sz="800" i="1"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 sz="800" i="1">
                  <a:latin typeface="Times New Roman" panose="02020603050405020304" charset="0"/>
                  <a:cs typeface="Times New Roman" panose="02020603050405020304" charset="0"/>
                </a:rPr>
                <a:t>7: </a:t>
              </a:r>
              <a:r>
                <a:rPr lang="en-US" sz="800" i="1">
                  <a:latin typeface="Times New Roman" panose="02020603050405020304" charset="0"/>
                  <a:cs typeface="Times New Roman" panose="02020603050405020304" charset="0"/>
                </a:rPr>
                <a:t>j</a:t>
              </a:r>
              <a:r>
                <a:rPr lang="en-US" altLang="en-US" sz="800" i="1">
                  <a:latin typeface="Times New Roman" panose="02020603050405020304" charset="0"/>
                  <a:cs typeface="Times New Roman" panose="02020603050405020304" charset="0"/>
                </a:rPr>
                <a:t>←</a:t>
              </a:r>
              <a:r>
                <a:rPr lang="en-US" altLang="zh-CN" sz="800" i="1">
                  <a:latin typeface="Times New Roman" panose="02020603050405020304" charset="0"/>
                  <a:cs typeface="Times New Roman" panose="02020603050405020304" charset="0"/>
                </a:rPr>
                <a:t> </a:t>
              </a:r>
              <a:r>
                <a:rPr lang="en-US" sz="800" i="1">
                  <a:latin typeface="Times New Roman" panose="02020603050405020304" charset="0"/>
                  <a:cs typeface="Times New Roman" panose="02020603050405020304" charset="0"/>
                </a:rPr>
                <a:t>j</a:t>
              </a:r>
              <a:r>
                <a:rPr lang="en-US" altLang="zh-CN" sz="800" i="1">
                  <a:latin typeface="Times New Roman" panose="02020603050405020304" charset="0"/>
                  <a:cs typeface="Times New Roman" panose="02020603050405020304" charset="0"/>
                </a:rPr>
                <a:t>+ 1 </a:t>
              </a:r>
              <a:endParaRPr lang="en-US" altLang="zh-CN" sz="800" i="1">
                <a:latin typeface="Times New Roman" panose="02020603050405020304" charset="0"/>
                <a:cs typeface="Times New Roman" panose="02020603050405020304" charset="0"/>
              </a:endParaRPr>
            </a:p>
            <a:p>
              <a:r>
                <a:rPr lang="en-US" altLang="zh-CN" sz="800" i="1">
                  <a:latin typeface="Times New Roman" panose="02020603050405020304" charset="0"/>
                  <a:cs typeface="Times New Roman" panose="02020603050405020304" charset="0"/>
                </a:rPr>
                <a:t>8: end for </a:t>
              </a:r>
              <a:endParaRPr lang="zh-CN" altLang="en-US" sz="800" i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sp>
        <p:nvSpPr>
          <p:cNvPr id="7" name="圆角矩形 6"/>
          <p:cNvSpPr/>
          <p:nvPr>
            <p:custDataLst>
              <p:tags r:id="rId2"/>
            </p:custDataLst>
          </p:nvPr>
        </p:nvSpPr>
        <p:spPr>
          <a:xfrm>
            <a:off x="2131695" y="701675"/>
            <a:ext cx="1892935" cy="2465070"/>
          </a:xfrm>
          <a:prstGeom prst="roundRect">
            <a:avLst>
              <a:gd name="adj" fmla="val 4082"/>
            </a:avLst>
          </a:prstGeom>
          <a:solidFill>
            <a:srgbClr val="F8EFFF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2656840" y="676910"/>
            <a:ext cx="14103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u="sng">
                <a:latin typeface="Times New Roman" panose="02020603050405020304" charset="0"/>
                <a:cs typeface="Times New Roman" panose="02020603050405020304" charset="0"/>
              </a:rPr>
              <a:t>Spec2IR Agent</a:t>
            </a:r>
            <a:endParaRPr lang="en-US" altLang="zh-CN" sz="1200" u="sng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63140" y="701675"/>
            <a:ext cx="393700" cy="226695"/>
          </a:xfrm>
          <a:prstGeom prst="rect">
            <a:avLst/>
          </a:prstGeom>
        </p:spPr>
      </p:pic>
      <p:sp>
        <p:nvSpPr>
          <p:cNvPr id="39" name="矩形 38"/>
          <p:cNvSpPr/>
          <p:nvPr>
            <p:custDataLst>
              <p:tags r:id="rId6"/>
            </p:custDataLst>
          </p:nvPr>
        </p:nvSpPr>
        <p:spPr>
          <a:xfrm>
            <a:off x="2263140" y="1139825"/>
            <a:ext cx="1624330" cy="7080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0" name="组合 39"/>
          <p:cNvGrpSpPr/>
          <p:nvPr/>
        </p:nvGrpSpPr>
        <p:grpSpPr>
          <a:xfrm rot="0">
            <a:off x="2481580" y="1215390"/>
            <a:ext cx="1188085" cy="418465"/>
            <a:chOff x="3914" y="1016"/>
            <a:chExt cx="7486" cy="2602"/>
          </a:xfrm>
        </p:grpSpPr>
        <p:pic>
          <p:nvPicPr>
            <p:cNvPr id="41" name="图片 40" descr="file-pdf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914" y="1016"/>
              <a:ext cx="2603" cy="2603"/>
            </a:xfrm>
            <a:prstGeom prst="rect">
              <a:avLst/>
            </a:prstGeom>
          </p:spPr>
        </p:pic>
        <p:pic>
          <p:nvPicPr>
            <p:cNvPr id="42" name="图片 41" descr="DOC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846" y="1040"/>
              <a:ext cx="2555" cy="2555"/>
            </a:xfrm>
            <a:prstGeom prst="rect">
              <a:avLst/>
            </a:prstGeom>
          </p:spPr>
        </p:pic>
      </p:grpSp>
      <p:sp>
        <p:nvSpPr>
          <p:cNvPr id="43" name="文本框 42"/>
          <p:cNvSpPr txBox="1"/>
          <p:nvPr>
            <p:custDataLst>
              <p:tags r:id="rId13"/>
            </p:custDataLst>
          </p:nvPr>
        </p:nvSpPr>
        <p:spPr>
          <a:xfrm>
            <a:off x="2263140" y="1633855"/>
            <a:ext cx="162496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</a:rPr>
              <a:t>Standard Specification Document</a:t>
            </a:r>
            <a:endParaRPr lang="en-US" altLang="zh-CN" sz="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5" name="矩形 44"/>
          <p:cNvSpPr/>
          <p:nvPr>
            <p:custDataLst>
              <p:tags r:id="rId14"/>
            </p:custDataLst>
          </p:nvPr>
        </p:nvSpPr>
        <p:spPr>
          <a:xfrm>
            <a:off x="2263775" y="2209800"/>
            <a:ext cx="1624330" cy="7080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>
            <p:custDataLst>
              <p:tags r:id="rId15"/>
            </p:custDataLst>
          </p:nvPr>
        </p:nvSpPr>
        <p:spPr>
          <a:xfrm>
            <a:off x="2263775" y="2703830"/>
            <a:ext cx="162496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</a:rPr>
              <a:t>Intermediate Representation </a:t>
            </a:r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</a:rPr>
              <a:t>Json</a:t>
            </a:r>
            <a:endParaRPr lang="en-US" altLang="zh-CN" sz="8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47" name="组合 46"/>
          <p:cNvGrpSpPr/>
          <p:nvPr/>
        </p:nvGrpSpPr>
        <p:grpSpPr>
          <a:xfrm rot="0">
            <a:off x="2576195" y="2249170"/>
            <a:ext cx="951865" cy="421640"/>
            <a:chOff x="11138" y="1583"/>
            <a:chExt cx="1499" cy="664"/>
          </a:xfrm>
        </p:grpSpPr>
        <p:pic>
          <p:nvPicPr>
            <p:cNvPr id="48" name="图片 47" descr="json输出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1138" y="1632"/>
              <a:ext cx="528" cy="528"/>
            </a:xfrm>
            <a:prstGeom prst="rect">
              <a:avLst/>
            </a:prstGeom>
          </p:spPr>
        </p:pic>
        <p:pic>
          <p:nvPicPr>
            <p:cNvPr id="49" name="图片 48" descr="jsonSchema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1973" y="1583"/>
              <a:ext cx="664" cy="664"/>
            </a:xfrm>
            <a:prstGeom prst="rect">
              <a:avLst/>
            </a:prstGeom>
          </p:spPr>
        </p:pic>
      </p:grpSp>
      <p:cxnSp>
        <p:nvCxnSpPr>
          <p:cNvPr id="50" name="直接箭头连接符 49"/>
          <p:cNvCxnSpPr/>
          <p:nvPr>
            <p:custDataLst>
              <p:tags r:id="rId22"/>
            </p:custDataLst>
          </p:nvPr>
        </p:nvCxnSpPr>
        <p:spPr>
          <a:xfrm>
            <a:off x="3075305" y="1847850"/>
            <a:ext cx="6350" cy="361950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圆角矩形 7"/>
          <p:cNvSpPr/>
          <p:nvPr/>
        </p:nvSpPr>
        <p:spPr>
          <a:xfrm>
            <a:off x="2131695" y="3459480"/>
            <a:ext cx="1893570" cy="2442845"/>
          </a:xfrm>
          <a:prstGeom prst="roundRect">
            <a:avLst>
              <a:gd name="adj" fmla="val 6812"/>
            </a:avLst>
          </a:prstGeom>
          <a:solidFill>
            <a:srgbClr val="DEEFFE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23"/>
            </p:custDataLst>
          </p:nvPr>
        </p:nvSpPr>
        <p:spPr>
          <a:xfrm>
            <a:off x="2613660" y="3481705"/>
            <a:ext cx="18281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u="sng">
                <a:latin typeface="Times New Roman" panose="02020603050405020304" charset="0"/>
                <a:cs typeface="Times New Roman" panose="02020603050405020304" charset="0"/>
              </a:rPr>
              <a:t>IR2Cryptol Agent</a:t>
            </a:r>
            <a:endParaRPr lang="en-US" altLang="zh-CN" sz="1200" u="sng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2152015" y="3509010"/>
            <a:ext cx="426720" cy="279400"/>
          </a:xfrm>
          <a:prstGeom prst="rect">
            <a:avLst/>
          </a:prstGeom>
        </p:spPr>
      </p:pic>
      <p:sp>
        <p:nvSpPr>
          <p:cNvPr id="2" name="矩形 1"/>
          <p:cNvSpPr/>
          <p:nvPr>
            <p:custDataLst>
              <p:tags r:id="rId26"/>
            </p:custDataLst>
          </p:nvPr>
        </p:nvSpPr>
        <p:spPr>
          <a:xfrm>
            <a:off x="2263775" y="3965575"/>
            <a:ext cx="1624330" cy="7080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" name="图片 3" descr="json输入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885440" y="4040505"/>
            <a:ext cx="381000" cy="381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30"/>
            </p:custDataLst>
          </p:nvPr>
        </p:nvSpPr>
        <p:spPr>
          <a:xfrm>
            <a:off x="2687955" y="4459605"/>
            <a:ext cx="77533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</a:rPr>
              <a:t>Retrieved IR</a:t>
            </a:r>
            <a:endParaRPr lang="en-US" altLang="zh-CN" sz="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263140" y="5009515"/>
            <a:ext cx="1625600" cy="7080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263140" y="5501005"/>
            <a:ext cx="162560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</a:rPr>
              <a:t>Generated Cryptol </a:t>
            </a:r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</a:rPr>
              <a:t>Code</a:t>
            </a:r>
            <a:endParaRPr lang="en-US" altLang="zh-CN" sz="8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6" name="图片 15" descr="代码文件"/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870200" y="5080000"/>
            <a:ext cx="410845" cy="410845"/>
          </a:xfrm>
          <a:prstGeom prst="rect">
            <a:avLst/>
          </a:prstGeom>
        </p:spPr>
      </p:pic>
      <p:cxnSp>
        <p:nvCxnSpPr>
          <p:cNvPr id="23" name="直接箭头连接符 22"/>
          <p:cNvCxnSpPr>
            <a:stCxn id="10" idx="2"/>
            <a:endCxn id="5" idx="0"/>
          </p:cNvCxnSpPr>
          <p:nvPr/>
        </p:nvCxnSpPr>
        <p:spPr>
          <a:xfrm>
            <a:off x="3075940" y="4673600"/>
            <a:ext cx="0" cy="335915"/>
          </a:xfrm>
          <a:prstGeom prst="straightConnector1">
            <a:avLst/>
          </a:prstGeom>
          <a:ln w="15875">
            <a:solidFill>
              <a:srgbClr val="20202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838960" y="1726883"/>
            <a:ext cx="292735" cy="29273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5400000">
            <a:off x="2869565" y="3166428"/>
            <a:ext cx="292735" cy="292735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025265" y="4731068"/>
            <a:ext cx="292735" cy="292735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4318000" y="1792605"/>
            <a:ext cx="6343015" cy="4109720"/>
            <a:chOff x="4200" y="644"/>
            <a:chExt cx="9989" cy="6472"/>
          </a:xfrm>
        </p:grpSpPr>
        <p:sp>
          <p:nvSpPr>
            <p:cNvPr id="24" name="圆角矩形 23"/>
            <p:cNvSpPr/>
            <p:nvPr/>
          </p:nvSpPr>
          <p:spPr>
            <a:xfrm>
              <a:off x="4200" y="644"/>
              <a:ext cx="6898" cy="6472"/>
            </a:xfrm>
            <a:prstGeom prst="roundRect">
              <a:avLst>
                <a:gd name="adj" fmla="val 5717"/>
              </a:avLst>
            </a:prstGeom>
            <a:solidFill>
              <a:srgbClr val="EDFAF2"/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5433" y="653"/>
              <a:ext cx="4432" cy="498"/>
              <a:chOff x="7718" y="2765"/>
              <a:chExt cx="4432" cy="498"/>
            </a:xfrm>
          </p:grpSpPr>
          <p:sp>
            <p:nvSpPr>
              <p:cNvPr id="26" name="文本框 25"/>
              <p:cNvSpPr txBox="1"/>
              <p:nvPr/>
            </p:nvSpPr>
            <p:spPr>
              <a:xfrm>
                <a:off x="7810" y="2765"/>
                <a:ext cx="4341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 u="sng">
                    <a:solidFill>
                      <a:schemeClr val="tx1"/>
                    </a:solidFill>
                    <a:uFillTx/>
                    <a:latin typeface="Times New Roman" panose="02020603050405020304" charset="0"/>
                    <a:cs typeface="Times New Roman" panose="02020603050405020304" charset="0"/>
                  </a:rPr>
                  <a:t>Compilation &amp; Fixing Agent</a:t>
                </a:r>
                <a:endParaRPr lang="en-US" altLang="zh-CN" sz="1400" u="sng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pic>
            <p:nvPicPr>
              <p:cNvPr id="27" name="图片 26"/>
              <p:cNvPicPr>
                <a:picLocks noChangeAspect="1"/>
              </p:cNvPicPr>
              <p:nvPr/>
            </p:nvPicPr>
            <p:blipFill>
              <a:blip r:embed="rId34"/>
              <a:srcRect l="2066" t="-1111" r="12672" b="21250"/>
              <a:stretch>
                <a:fillRect/>
              </a:stretch>
            </p:blipFill>
            <p:spPr>
              <a:xfrm>
                <a:off x="7718" y="2765"/>
                <a:ext cx="537" cy="499"/>
              </a:xfrm>
              <a:prstGeom prst="rect">
                <a:avLst/>
              </a:prstGeom>
            </p:spPr>
          </p:pic>
        </p:grpSp>
        <p:grpSp>
          <p:nvGrpSpPr>
            <p:cNvPr id="28" name="组合 27"/>
            <p:cNvGrpSpPr/>
            <p:nvPr/>
          </p:nvGrpSpPr>
          <p:grpSpPr>
            <a:xfrm>
              <a:off x="11613" y="1688"/>
              <a:ext cx="2343" cy="1502"/>
              <a:chOff x="10527" y="3670"/>
              <a:chExt cx="2343" cy="1502"/>
            </a:xfrm>
          </p:grpSpPr>
          <p:sp>
            <p:nvSpPr>
              <p:cNvPr id="30" name="圆角矩形 29"/>
              <p:cNvSpPr/>
              <p:nvPr/>
            </p:nvSpPr>
            <p:spPr>
              <a:xfrm>
                <a:off x="10527" y="3670"/>
                <a:ext cx="2342" cy="1503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33" name="图片 32"/>
              <p:cNvPicPr>
                <a:picLocks noChangeAspect="1"/>
              </p:cNvPicPr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0648" y="4493"/>
                <a:ext cx="468" cy="468"/>
              </a:xfrm>
              <a:prstGeom prst="rect">
                <a:avLst/>
              </a:prstGeom>
            </p:spPr>
          </p:pic>
          <p:sp>
            <p:nvSpPr>
              <p:cNvPr id="38" name="文本框 37"/>
              <p:cNvSpPr txBox="1"/>
              <p:nvPr/>
            </p:nvSpPr>
            <p:spPr>
              <a:xfrm>
                <a:off x="10527" y="3670"/>
                <a:ext cx="2343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Output</a:t>
                </a:r>
                <a:endParaRPr lang="en-US" altLang="zh-CN" sz="1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11116" y="4447"/>
                <a:ext cx="1755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000">
                    <a:latin typeface="Times New Roman" panose="02020603050405020304" charset="0"/>
                    <a:cs typeface="Times New Roman" panose="02020603050405020304" charset="0"/>
                  </a:rPr>
                  <a:t>Final Cryptol Code</a:t>
                </a:r>
                <a:endParaRPr lang="en-US" altLang="zh-CN" sz="1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11733" y="4953"/>
              <a:ext cx="2456" cy="1605"/>
              <a:chOff x="10526" y="5374"/>
              <a:chExt cx="2456" cy="1605"/>
            </a:xfrm>
          </p:grpSpPr>
          <p:sp>
            <p:nvSpPr>
              <p:cNvPr id="55" name="圆角矩形 54"/>
              <p:cNvSpPr/>
              <p:nvPr/>
            </p:nvSpPr>
            <p:spPr>
              <a:xfrm>
                <a:off x="10526" y="5374"/>
                <a:ext cx="2343" cy="1605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10527" y="5476"/>
                <a:ext cx="2343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Failure Output</a:t>
                </a:r>
                <a:endParaRPr lang="en-US" altLang="zh-CN" sz="1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62" name="文本框 61"/>
              <p:cNvSpPr txBox="1"/>
              <p:nvPr/>
            </p:nvSpPr>
            <p:spPr>
              <a:xfrm>
                <a:off x="11115" y="6228"/>
                <a:ext cx="1867" cy="75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1000">
                    <a:latin typeface="Times New Roman" panose="02020603050405020304" charset="0"/>
                    <a:cs typeface="Times New Roman" panose="02020603050405020304" charset="0"/>
                  </a:rPr>
                  <a:t>Code with compilation errors</a:t>
                </a:r>
                <a:endParaRPr lang="en-US" altLang="zh-CN" sz="1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pic>
            <p:nvPicPr>
              <p:cNvPr id="63" name="图片 62"/>
              <p:cNvPicPr>
                <a:picLocks noChangeAspect="1"/>
              </p:cNvPicPr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0635" y="6299"/>
                <a:ext cx="480" cy="480"/>
              </a:xfrm>
              <a:prstGeom prst="rect">
                <a:avLst/>
              </a:prstGeom>
            </p:spPr>
          </p:pic>
        </p:grpSp>
        <p:grpSp>
          <p:nvGrpSpPr>
            <p:cNvPr id="64" name="组合 63"/>
            <p:cNvGrpSpPr/>
            <p:nvPr/>
          </p:nvGrpSpPr>
          <p:grpSpPr>
            <a:xfrm>
              <a:off x="5046" y="1424"/>
              <a:ext cx="2578" cy="1326"/>
              <a:chOff x="5656" y="5642"/>
              <a:chExt cx="2578" cy="1326"/>
            </a:xfrm>
          </p:grpSpPr>
          <p:sp>
            <p:nvSpPr>
              <p:cNvPr id="65" name="矩形 64"/>
              <p:cNvSpPr/>
              <p:nvPr>
                <p:custDataLst>
                  <p:tags r:id="rId37"/>
                </p:custDataLst>
              </p:nvPr>
            </p:nvSpPr>
            <p:spPr>
              <a:xfrm>
                <a:off x="5656" y="6014"/>
                <a:ext cx="2558" cy="9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66" name="图片 65"/>
              <p:cNvPicPr>
                <a:picLocks noChangeAspect="1"/>
              </p:cNvPicPr>
              <p:nvPr>
                <p:custDataLst>
                  <p:tags r:id="rId38"/>
                </p:custDataLst>
              </p:nvPr>
            </p:nvPicPr>
            <p:blipFill>
              <a:blip r:embed="rId39"/>
              <a:stretch>
                <a:fillRect/>
              </a:stretch>
            </p:blipFill>
            <p:spPr>
              <a:xfrm>
                <a:off x="6651" y="6080"/>
                <a:ext cx="567" cy="567"/>
              </a:xfrm>
              <a:prstGeom prst="rect">
                <a:avLst/>
              </a:prstGeom>
            </p:spPr>
          </p:pic>
          <p:sp>
            <p:nvSpPr>
              <p:cNvPr id="67" name="文本框 66"/>
              <p:cNvSpPr txBox="1"/>
              <p:nvPr>
                <p:custDataLst>
                  <p:tags r:id="rId40"/>
                </p:custDataLst>
              </p:nvPr>
            </p:nvSpPr>
            <p:spPr>
              <a:xfrm>
                <a:off x="5676" y="6581"/>
                <a:ext cx="2558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>
                    <a:latin typeface="Times New Roman" panose="02020603050405020304" charset="0"/>
                    <a:cs typeface="Times New Roman" panose="02020603050405020304" charset="0"/>
                  </a:rPr>
                  <a:t>Compile </a:t>
                </a:r>
                <a:r>
                  <a:rPr lang="en-US" altLang="zh-CN" sz="1000">
                    <a:latin typeface="Times New Roman" panose="02020603050405020304" charset="0"/>
                    <a:cs typeface="Times New Roman" panose="02020603050405020304" charset="0"/>
                  </a:rPr>
                  <a:t>Code</a:t>
                </a:r>
                <a:endParaRPr lang="en-US" altLang="zh-CN" sz="1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68" name="矩形 67"/>
              <p:cNvSpPr/>
              <p:nvPr/>
            </p:nvSpPr>
            <p:spPr>
              <a:xfrm>
                <a:off x="5656" y="5642"/>
                <a:ext cx="2559" cy="365"/>
              </a:xfrm>
              <a:prstGeom prst="rect">
                <a:avLst/>
              </a:prstGeom>
              <a:solidFill>
                <a:srgbClr val="EDFAF2"/>
              </a:solidFill>
              <a:ln>
                <a:solidFill>
                  <a:srgbClr val="32323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0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Step1: Compile Code</a:t>
                </a:r>
                <a:endPara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</p:grpSp>
        <p:grpSp>
          <p:nvGrpSpPr>
            <p:cNvPr id="69" name="组合 68"/>
            <p:cNvGrpSpPr/>
            <p:nvPr/>
          </p:nvGrpSpPr>
          <p:grpSpPr>
            <a:xfrm>
              <a:off x="5046" y="5055"/>
              <a:ext cx="2579" cy="1326"/>
              <a:chOff x="5657" y="3437"/>
              <a:chExt cx="2578" cy="1326"/>
            </a:xfrm>
          </p:grpSpPr>
          <p:sp>
            <p:nvSpPr>
              <p:cNvPr id="70" name="矩形 69"/>
              <p:cNvSpPr/>
              <p:nvPr>
                <p:custDataLst>
                  <p:tags r:id="rId41"/>
                </p:custDataLst>
              </p:nvPr>
            </p:nvSpPr>
            <p:spPr>
              <a:xfrm>
                <a:off x="5657" y="3809"/>
                <a:ext cx="2558" cy="9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1" name="文本框 70"/>
              <p:cNvSpPr txBox="1"/>
              <p:nvPr>
                <p:custDataLst>
                  <p:tags r:id="rId42"/>
                </p:custDataLst>
              </p:nvPr>
            </p:nvSpPr>
            <p:spPr>
              <a:xfrm>
                <a:off x="5677" y="4376"/>
                <a:ext cx="2558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>
                    <a:latin typeface="Times New Roman" panose="02020603050405020304" charset="0"/>
                    <a:cs typeface="Times New Roman" panose="02020603050405020304" charset="0"/>
                  </a:rPr>
                  <a:t>Fix Generated Code</a:t>
                </a:r>
                <a:endParaRPr lang="en-US" altLang="zh-CN" sz="1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72" name="矩形 71"/>
              <p:cNvSpPr/>
              <p:nvPr/>
            </p:nvSpPr>
            <p:spPr>
              <a:xfrm>
                <a:off x="5657" y="3437"/>
                <a:ext cx="2559" cy="365"/>
              </a:xfrm>
              <a:prstGeom prst="rect">
                <a:avLst/>
              </a:prstGeom>
              <a:solidFill>
                <a:srgbClr val="EDFAF2"/>
              </a:solidFill>
              <a:ln>
                <a:solidFill>
                  <a:srgbClr val="32323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0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Step2: Fix Generated Code</a:t>
                </a:r>
                <a:endPara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pic>
            <p:nvPicPr>
              <p:cNvPr id="73" name="图片 72"/>
              <p:cNvPicPr>
                <a:picLocks noChangeAspect="1"/>
              </p:cNvPicPr>
              <p:nvPr>
                <p:custDataLst>
                  <p:tags r:id="rId43"/>
                </p:custDataLst>
              </p:nvPr>
            </p:nvPicPr>
            <p:blipFill>
              <a:blip r:embed="rId44"/>
              <a:stretch>
                <a:fillRect/>
              </a:stretch>
            </p:blipFill>
            <p:spPr>
              <a:xfrm>
                <a:off x="6652" y="3848"/>
                <a:ext cx="506" cy="506"/>
              </a:xfrm>
              <a:prstGeom prst="rect">
                <a:avLst/>
              </a:prstGeom>
            </p:spPr>
          </p:pic>
        </p:grpSp>
        <p:sp>
          <p:nvSpPr>
            <p:cNvPr id="74" name="菱形 73"/>
            <p:cNvSpPr/>
            <p:nvPr/>
          </p:nvSpPr>
          <p:spPr>
            <a:xfrm>
              <a:off x="5047" y="3323"/>
              <a:ext cx="2559" cy="1044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successful</a:t>
              </a:r>
              <a:r>
                <a:rPr lang="zh-CN" altLang="en-US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？</a:t>
              </a:r>
              <a:endParaRPr lang="zh-CN" altLang="en-US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75" name="组合 74"/>
            <p:cNvGrpSpPr/>
            <p:nvPr/>
          </p:nvGrpSpPr>
          <p:grpSpPr>
            <a:xfrm>
              <a:off x="8265" y="5233"/>
              <a:ext cx="2558" cy="1044"/>
              <a:chOff x="14688" y="2214"/>
              <a:chExt cx="2558" cy="1044"/>
            </a:xfrm>
          </p:grpSpPr>
          <p:sp>
            <p:nvSpPr>
              <p:cNvPr id="76" name="菱形 75"/>
              <p:cNvSpPr/>
              <p:nvPr/>
            </p:nvSpPr>
            <p:spPr>
              <a:xfrm>
                <a:off x="14688" y="2214"/>
                <a:ext cx="2559" cy="1044"/>
              </a:xfrm>
              <a:prstGeom prst="diamond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77" name="文本框 76"/>
              <p:cNvSpPr txBox="1"/>
              <p:nvPr/>
            </p:nvSpPr>
            <p:spPr>
              <a:xfrm>
                <a:off x="15357" y="2430"/>
                <a:ext cx="1491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000">
                    <a:latin typeface="Times New Roman" panose="02020603050405020304" charset="0"/>
                    <a:cs typeface="Times New Roman" panose="02020603050405020304" charset="0"/>
                  </a:rPr>
                  <a:t>Retry Limited Reached </a:t>
                </a:r>
                <a:r>
                  <a:rPr lang="zh-CN" altLang="en-US" sz="1000">
                    <a:latin typeface="Times New Roman" panose="02020603050405020304" charset="0"/>
                    <a:cs typeface="Times New Roman" panose="02020603050405020304" charset="0"/>
                  </a:rPr>
                  <a:t>？</a:t>
                </a:r>
                <a:endParaRPr lang="zh-CN" altLang="en-US" sz="1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cxnSp>
          <p:nvCxnSpPr>
            <p:cNvPr id="78" name="曲线连接符 77"/>
            <p:cNvCxnSpPr>
              <a:endCxn id="74" idx="0"/>
            </p:cNvCxnSpPr>
            <p:nvPr/>
          </p:nvCxnSpPr>
          <p:spPr>
            <a:xfrm rot="5400000" flipV="1">
              <a:off x="6037" y="3033"/>
              <a:ext cx="574" cy="5"/>
            </a:xfrm>
            <a:prstGeom prst="curvedConnector2">
              <a:avLst/>
            </a:prstGeom>
            <a:ln w="19050" cap="flat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9" name="肘形连接符 78"/>
            <p:cNvCxnSpPr/>
            <p:nvPr/>
          </p:nvCxnSpPr>
          <p:spPr>
            <a:xfrm rot="5400000" flipH="1">
              <a:off x="5293" y="2025"/>
              <a:ext cx="4004" cy="4499"/>
            </a:xfrm>
            <a:prstGeom prst="bentConnector4">
              <a:avLst>
                <a:gd name="adj1" fmla="val -9353"/>
                <a:gd name="adj2" fmla="val 108346"/>
              </a:avLst>
            </a:prstGeom>
            <a:ln w="19050" cap="flat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0" name="肘形连接符 79"/>
            <p:cNvCxnSpPr>
              <a:stCxn id="74" idx="2"/>
              <a:endCxn id="72" idx="0"/>
            </p:cNvCxnSpPr>
            <p:nvPr/>
          </p:nvCxnSpPr>
          <p:spPr>
            <a:xfrm rot="5400000">
              <a:off x="5983" y="4711"/>
              <a:ext cx="688" cy="1"/>
            </a:xfrm>
            <a:prstGeom prst="bentConnector3">
              <a:avLst>
                <a:gd name="adj1" fmla="val 49927"/>
              </a:avLst>
            </a:prstGeom>
            <a:ln w="19050" cap="flat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1" name="肘形连接符 80"/>
            <p:cNvCxnSpPr>
              <a:stCxn id="74" idx="3"/>
              <a:endCxn id="30" idx="1"/>
            </p:cNvCxnSpPr>
            <p:nvPr/>
          </p:nvCxnSpPr>
          <p:spPr>
            <a:xfrm flipV="1">
              <a:off x="7606" y="2440"/>
              <a:ext cx="4007" cy="1405"/>
            </a:xfrm>
            <a:prstGeom prst="bentConnector3">
              <a:avLst>
                <a:gd name="adj1" fmla="val 50012"/>
              </a:avLst>
            </a:prstGeom>
            <a:ln w="19050" cap="flat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2" name="肘形连接符 81"/>
            <p:cNvCxnSpPr>
              <a:endCxn id="76" idx="0"/>
            </p:cNvCxnSpPr>
            <p:nvPr/>
          </p:nvCxnSpPr>
          <p:spPr>
            <a:xfrm flipV="1">
              <a:off x="7603" y="5233"/>
              <a:ext cx="1942" cy="522"/>
            </a:xfrm>
            <a:prstGeom prst="bentConnector4">
              <a:avLst>
                <a:gd name="adj1" fmla="val 17096"/>
                <a:gd name="adj2" fmla="val 171839"/>
              </a:avLst>
            </a:prstGeom>
            <a:ln w="19050" cap="flat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3" name="肘形连接符 82"/>
            <p:cNvCxnSpPr>
              <a:stCxn id="76" idx="3"/>
              <a:endCxn id="55" idx="1"/>
            </p:cNvCxnSpPr>
            <p:nvPr/>
          </p:nvCxnSpPr>
          <p:spPr>
            <a:xfrm>
              <a:off x="10824" y="5755"/>
              <a:ext cx="909" cy="1"/>
            </a:xfrm>
            <a:prstGeom prst="bentConnector3">
              <a:avLst>
                <a:gd name="adj1" fmla="val 50055"/>
              </a:avLst>
            </a:prstGeom>
            <a:ln w="19050" cap="flat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464310" y="1384935"/>
            <a:ext cx="1624330" cy="7080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463993" y="1878965"/>
            <a:ext cx="162496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</a:rPr>
              <a:t>Intermediate Representation </a:t>
            </a:r>
            <a:r>
              <a:rPr lang="en-US" altLang="zh-CN" sz="800">
                <a:latin typeface="Times New Roman" panose="02020603050405020304" charset="0"/>
                <a:cs typeface="Times New Roman" panose="02020603050405020304" charset="0"/>
              </a:rPr>
              <a:t>Json</a:t>
            </a:r>
            <a:endParaRPr lang="en-US" altLang="zh-CN" sz="8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776730" y="1424305"/>
            <a:ext cx="951865" cy="421640"/>
            <a:chOff x="11138" y="1583"/>
            <a:chExt cx="1499" cy="664"/>
          </a:xfrm>
        </p:grpSpPr>
        <p:pic>
          <p:nvPicPr>
            <p:cNvPr id="25" name="图片 24" descr="json输出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138" y="1632"/>
              <a:ext cx="528" cy="528"/>
            </a:xfrm>
            <a:prstGeom prst="rect">
              <a:avLst/>
            </a:prstGeom>
          </p:spPr>
        </p:pic>
        <p:pic>
          <p:nvPicPr>
            <p:cNvPr id="27" name="图片 26" descr="jsonSchema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973" y="1583"/>
              <a:ext cx="664" cy="664"/>
            </a:xfrm>
            <a:prstGeom prst="rect">
              <a:avLst/>
            </a:prstGeom>
          </p:spPr>
        </p:pic>
      </p:grpSp>
      <p:grpSp>
        <p:nvGrpSpPr>
          <p:cNvPr id="12" name="组合 11"/>
          <p:cNvGrpSpPr/>
          <p:nvPr/>
        </p:nvGrpSpPr>
        <p:grpSpPr>
          <a:xfrm>
            <a:off x="5985193" y="407035"/>
            <a:ext cx="1624330" cy="707390"/>
            <a:chOff x="8923" y="5741"/>
            <a:chExt cx="2558" cy="1114"/>
          </a:xfrm>
        </p:grpSpPr>
        <p:sp>
          <p:nvSpPr>
            <p:cNvPr id="7" name="矩形 6"/>
            <p:cNvSpPr/>
            <p:nvPr/>
          </p:nvSpPr>
          <p:spPr>
            <a:xfrm>
              <a:off x="8923" y="5741"/>
              <a:ext cx="2558" cy="11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9267" y="5860"/>
              <a:ext cx="1871" cy="659"/>
              <a:chOff x="3914" y="1016"/>
              <a:chExt cx="7486" cy="2602"/>
            </a:xfrm>
          </p:grpSpPr>
          <p:pic>
            <p:nvPicPr>
              <p:cNvPr id="9" name="图片 8" descr="file-pdf"/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914" y="1016"/>
                <a:ext cx="2603" cy="2603"/>
              </a:xfrm>
              <a:prstGeom prst="rect">
                <a:avLst/>
              </a:prstGeom>
            </p:spPr>
          </p:pic>
          <p:pic>
            <p:nvPicPr>
              <p:cNvPr id="10" name="图片 9" descr="DOC"/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8846" y="1040"/>
                <a:ext cx="2555" cy="2555"/>
              </a:xfrm>
              <a:prstGeom prst="rect">
                <a:avLst/>
              </a:prstGeom>
            </p:spPr>
          </p:pic>
        </p:grpSp>
        <p:sp>
          <p:nvSpPr>
            <p:cNvPr id="11" name="文本框 10"/>
            <p:cNvSpPr txBox="1"/>
            <p:nvPr/>
          </p:nvSpPr>
          <p:spPr>
            <a:xfrm>
              <a:off x="8923" y="6519"/>
              <a:ext cx="2559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800">
                  <a:latin typeface="Times New Roman" panose="02020603050405020304" charset="0"/>
                  <a:cs typeface="Times New Roman" panose="02020603050405020304" charset="0"/>
                </a:rPr>
                <a:t>Standard Specification Document</a:t>
              </a:r>
              <a:endParaRPr lang="en-US" altLang="zh-CN" sz="8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985193" y="1656715"/>
            <a:ext cx="1624330" cy="707390"/>
            <a:chOff x="9425" y="2609"/>
            <a:chExt cx="2558" cy="1114"/>
          </a:xfrm>
        </p:grpSpPr>
        <p:sp>
          <p:nvSpPr>
            <p:cNvPr id="14" name="矩形 13"/>
            <p:cNvSpPr/>
            <p:nvPr/>
          </p:nvSpPr>
          <p:spPr>
            <a:xfrm>
              <a:off x="9425" y="2609"/>
              <a:ext cx="2558" cy="11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9425" y="3387"/>
              <a:ext cx="2559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800">
                  <a:latin typeface="Times New Roman" panose="02020603050405020304" charset="0"/>
                  <a:cs typeface="Times New Roman" panose="02020603050405020304" charset="0"/>
                </a:rPr>
                <a:t>Intermediate Representation </a:t>
              </a:r>
              <a:r>
                <a:rPr lang="en-US" altLang="zh-CN" sz="800">
                  <a:latin typeface="Times New Roman" panose="02020603050405020304" charset="0"/>
                  <a:cs typeface="Times New Roman" panose="02020603050405020304" charset="0"/>
                </a:rPr>
                <a:t>Json</a:t>
              </a:r>
              <a:endParaRPr lang="en-US" altLang="zh-CN" sz="8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9917" y="2671"/>
              <a:ext cx="1499" cy="664"/>
              <a:chOff x="11138" y="1583"/>
              <a:chExt cx="1499" cy="664"/>
            </a:xfrm>
          </p:grpSpPr>
          <p:pic>
            <p:nvPicPr>
              <p:cNvPr id="17" name="图片 16" descr="json输出"/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1138" y="1632"/>
                <a:ext cx="528" cy="528"/>
              </a:xfrm>
              <a:prstGeom prst="rect">
                <a:avLst/>
              </a:prstGeom>
            </p:spPr>
          </p:pic>
          <p:pic>
            <p:nvPicPr>
              <p:cNvPr id="18" name="图片 17" descr="jsonSchema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1973" y="1583"/>
                <a:ext cx="664" cy="664"/>
              </a:xfrm>
              <a:prstGeom prst="rect">
                <a:avLst/>
              </a:prstGeom>
            </p:spPr>
          </p:pic>
        </p:grpSp>
      </p:grpSp>
      <p:cxnSp>
        <p:nvCxnSpPr>
          <p:cNvPr id="20" name="直接箭头连接符 19"/>
          <p:cNvCxnSpPr>
            <a:stCxn id="11" idx="2"/>
            <a:endCxn id="14" idx="0"/>
          </p:cNvCxnSpPr>
          <p:nvPr/>
        </p:nvCxnSpPr>
        <p:spPr>
          <a:xfrm>
            <a:off x="6797675" y="1115060"/>
            <a:ext cx="0" cy="541655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圆角矩形 20"/>
          <p:cNvSpPr/>
          <p:nvPr/>
        </p:nvSpPr>
        <p:spPr>
          <a:xfrm>
            <a:off x="2728595" y="3003550"/>
            <a:ext cx="1892935" cy="2493010"/>
          </a:xfrm>
          <a:prstGeom prst="roundRect">
            <a:avLst>
              <a:gd name="adj" fmla="val 4082"/>
            </a:avLst>
          </a:prstGeom>
          <a:solidFill>
            <a:srgbClr val="F8EFFF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3253740" y="3120390"/>
            <a:ext cx="14103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u="sng">
                <a:latin typeface="Times New Roman" panose="02020603050405020304" charset="0"/>
                <a:cs typeface="Times New Roman" panose="02020603050405020304" charset="0"/>
              </a:rPr>
              <a:t>Spec2IR Agent</a:t>
            </a:r>
            <a:endParaRPr lang="en-US" altLang="zh-CN" sz="1200" u="sng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60040" y="3144838"/>
            <a:ext cx="393700" cy="226695"/>
          </a:xfrm>
          <a:prstGeom prst="rect">
            <a:avLst/>
          </a:prstGeom>
        </p:spPr>
      </p:pic>
      <p:grpSp>
        <p:nvGrpSpPr>
          <p:cNvPr id="38" name="组合 37"/>
          <p:cNvGrpSpPr/>
          <p:nvPr/>
        </p:nvGrpSpPr>
        <p:grpSpPr>
          <a:xfrm>
            <a:off x="2859723" y="3583305"/>
            <a:ext cx="1624330" cy="707390"/>
            <a:chOff x="8923" y="5741"/>
            <a:chExt cx="2558" cy="1114"/>
          </a:xfrm>
        </p:grpSpPr>
        <p:sp>
          <p:nvSpPr>
            <p:cNvPr id="39" name="矩形 38"/>
            <p:cNvSpPr/>
            <p:nvPr/>
          </p:nvSpPr>
          <p:spPr>
            <a:xfrm>
              <a:off x="8923" y="5741"/>
              <a:ext cx="2558" cy="11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9267" y="5860"/>
              <a:ext cx="1871" cy="659"/>
              <a:chOff x="3914" y="1016"/>
              <a:chExt cx="7486" cy="2602"/>
            </a:xfrm>
          </p:grpSpPr>
          <p:pic>
            <p:nvPicPr>
              <p:cNvPr id="41" name="图片 40" descr="file-pdf"/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3914" y="1016"/>
                <a:ext cx="2603" cy="2603"/>
              </a:xfrm>
              <a:prstGeom prst="rect">
                <a:avLst/>
              </a:prstGeom>
            </p:spPr>
          </p:pic>
          <p:pic>
            <p:nvPicPr>
              <p:cNvPr id="42" name="图片 41" descr="DOC"/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8846" y="1040"/>
                <a:ext cx="2555" cy="2555"/>
              </a:xfrm>
              <a:prstGeom prst="rect">
                <a:avLst/>
              </a:prstGeom>
            </p:spPr>
          </p:pic>
        </p:grpSp>
        <p:sp>
          <p:nvSpPr>
            <p:cNvPr id="43" name="文本框 42"/>
            <p:cNvSpPr txBox="1"/>
            <p:nvPr/>
          </p:nvSpPr>
          <p:spPr>
            <a:xfrm>
              <a:off x="8923" y="6519"/>
              <a:ext cx="2559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800">
                  <a:latin typeface="Times New Roman" panose="02020603050405020304" charset="0"/>
                  <a:cs typeface="Times New Roman" panose="02020603050405020304" charset="0"/>
                </a:rPr>
                <a:t>Standard Specification Document</a:t>
              </a:r>
              <a:endParaRPr lang="en-US" altLang="zh-CN" sz="8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2860358" y="4653280"/>
            <a:ext cx="1624330" cy="707390"/>
            <a:chOff x="9425" y="2609"/>
            <a:chExt cx="2558" cy="1114"/>
          </a:xfrm>
        </p:grpSpPr>
        <p:sp>
          <p:nvSpPr>
            <p:cNvPr id="45" name="矩形 44"/>
            <p:cNvSpPr/>
            <p:nvPr/>
          </p:nvSpPr>
          <p:spPr>
            <a:xfrm>
              <a:off x="9425" y="2609"/>
              <a:ext cx="2558" cy="11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9425" y="3387"/>
              <a:ext cx="2559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800">
                  <a:latin typeface="Times New Roman" panose="02020603050405020304" charset="0"/>
                  <a:cs typeface="Times New Roman" panose="02020603050405020304" charset="0"/>
                </a:rPr>
                <a:t>Intermediate Representation </a:t>
              </a:r>
              <a:r>
                <a:rPr lang="en-US" altLang="zh-CN" sz="800">
                  <a:latin typeface="Times New Roman" panose="02020603050405020304" charset="0"/>
                  <a:cs typeface="Times New Roman" panose="02020603050405020304" charset="0"/>
                </a:rPr>
                <a:t>Json</a:t>
              </a:r>
              <a:endParaRPr lang="en-US" altLang="zh-CN" sz="8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47" name="组合 46"/>
            <p:cNvGrpSpPr/>
            <p:nvPr/>
          </p:nvGrpSpPr>
          <p:grpSpPr>
            <a:xfrm>
              <a:off x="9917" y="2671"/>
              <a:ext cx="1499" cy="664"/>
              <a:chOff x="11138" y="1583"/>
              <a:chExt cx="1499" cy="664"/>
            </a:xfrm>
          </p:grpSpPr>
          <p:pic>
            <p:nvPicPr>
              <p:cNvPr id="48" name="图片 47" descr="json输出"/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1138" y="1632"/>
                <a:ext cx="528" cy="528"/>
              </a:xfrm>
              <a:prstGeom prst="rect">
                <a:avLst/>
              </a:prstGeom>
            </p:spPr>
          </p:pic>
          <p:pic>
            <p:nvPicPr>
              <p:cNvPr id="49" name="图片 48" descr="jsonSchema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1973" y="1583"/>
                <a:ext cx="664" cy="664"/>
              </a:xfrm>
              <a:prstGeom prst="rect">
                <a:avLst/>
              </a:prstGeom>
            </p:spPr>
          </p:pic>
        </p:grpSp>
      </p:grpSp>
      <p:cxnSp>
        <p:nvCxnSpPr>
          <p:cNvPr id="50" name="直接箭头连接符 49"/>
          <p:cNvCxnSpPr/>
          <p:nvPr/>
        </p:nvCxnSpPr>
        <p:spPr>
          <a:xfrm>
            <a:off x="3672205" y="4291330"/>
            <a:ext cx="6350" cy="361950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4258310" y="3952240"/>
            <a:ext cx="1805940" cy="11169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1050925" y="539750"/>
            <a:ext cx="2153285" cy="2200275"/>
          </a:xfrm>
          <a:prstGeom prst="roundRect">
            <a:avLst>
              <a:gd name="adj" fmla="val 6812"/>
            </a:avLst>
          </a:prstGeom>
          <a:solidFill>
            <a:srgbClr val="DEEFFE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1558290" y="765175"/>
            <a:ext cx="18281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IR2Cryptol Agent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96645" y="792480"/>
            <a:ext cx="426720" cy="279400"/>
          </a:xfrm>
          <a:prstGeom prst="rect">
            <a:avLst/>
          </a:prstGeom>
        </p:spPr>
      </p:pic>
      <p:pic>
        <p:nvPicPr>
          <p:cNvPr id="3" name="图片 2" descr="代码文件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50130" y="4023995"/>
            <a:ext cx="530225" cy="530225"/>
          </a:xfrm>
          <a:prstGeom prst="rect">
            <a:avLst/>
          </a:prstGeom>
        </p:spPr>
      </p:pic>
      <p:grpSp>
        <p:nvGrpSpPr>
          <p:cNvPr id="51" name="组合 50"/>
          <p:cNvGrpSpPr/>
          <p:nvPr>
            <p:custDataLst>
              <p:tags r:id="rId6"/>
            </p:custDataLst>
          </p:nvPr>
        </p:nvGrpSpPr>
        <p:grpSpPr>
          <a:xfrm>
            <a:off x="6492240" y="680085"/>
            <a:ext cx="1934845" cy="2493010"/>
            <a:chOff x="1538" y="6291"/>
            <a:chExt cx="3047" cy="3926"/>
          </a:xfrm>
        </p:grpSpPr>
        <p:sp>
          <p:nvSpPr>
            <p:cNvPr id="16" name="圆角矩形 15"/>
            <p:cNvSpPr/>
            <p:nvPr>
              <p:custDataLst>
                <p:tags r:id="rId7"/>
              </p:custDataLst>
            </p:nvPr>
          </p:nvSpPr>
          <p:spPr>
            <a:xfrm>
              <a:off x="1538" y="6291"/>
              <a:ext cx="2981" cy="3926"/>
            </a:xfrm>
            <a:prstGeom prst="roundRect">
              <a:avLst>
                <a:gd name="adj" fmla="val 4082"/>
              </a:avLst>
            </a:prstGeom>
            <a:solidFill>
              <a:srgbClr val="F8EFFF"/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>
              <p:custDataLst>
                <p:tags r:id="rId8"/>
              </p:custDataLst>
            </p:nvPr>
          </p:nvSpPr>
          <p:spPr>
            <a:xfrm>
              <a:off x="2365" y="6475"/>
              <a:ext cx="2221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u="sng">
                  <a:latin typeface="Times New Roman" panose="02020603050405020304" charset="0"/>
                  <a:cs typeface="Times New Roman" panose="02020603050405020304" charset="0"/>
                </a:rPr>
                <a:t>Spec2IR Agent</a:t>
              </a:r>
              <a:endParaRPr lang="en-US" altLang="zh-CN" sz="1200" u="sng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pic>
          <p:nvPicPr>
            <p:cNvPr id="22" name="图片 21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745" y="6514"/>
              <a:ext cx="620" cy="357"/>
            </a:xfrm>
            <a:prstGeom prst="rect">
              <a:avLst/>
            </a:prstGeom>
          </p:spPr>
        </p:pic>
        <p:grpSp>
          <p:nvGrpSpPr>
            <p:cNvPr id="38" name="组合 37"/>
            <p:cNvGrpSpPr/>
            <p:nvPr/>
          </p:nvGrpSpPr>
          <p:grpSpPr>
            <a:xfrm>
              <a:off x="1745" y="7204"/>
              <a:ext cx="2558" cy="1114"/>
              <a:chOff x="8923" y="5741"/>
              <a:chExt cx="2558" cy="1114"/>
            </a:xfrm>
          </p:grpSpPr>
          <p:sp>
            <p:nvSpPr>
              <p:cNvPr id="39" name="矩形 38"/>
              <p:cNvSpPr/>
              <p:nvPr>
                <p:custDataLst>
                  <p:tags r:id="rId11"/>
                </p:custDataLst>
              </p:nvPr>
            </p:nvSpPr>
            <p:spPr>
              <a:xfrm>
                <a:off x="8923" y="5741"/>
                <a:ext cx="2558" cy="111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pSp>
            <p:nvGrpSpPr>
              <p:cNvPr id="40" name="组合 39"/>
              <p:cNvGrpSpPr/>
              <p:nvPr/>
            </p:nvGrpSpPr>
            <p:grpSpPr>
              <a:xfrm>
                <a:off x="9267" y="5860"/>
                <a:ext cx="1871" cy="659"/>
                <a:chOff x="3914" y="1016"/>
                <a:chExt cx="7486" cy="2602"/>
              </a:xfrm>
            </p:grpSpPr>
            <p:pic>
              <p:nvPicPr>
                <p:cNvPr id="41" name="图片 40" descr="file-pdf"/>
                <p:cNvPicPr>
                  <a:picLocks noChangeAspect="1"/>
                </p:cNvPicPr>
                <p:nvPr>
                  <p:custDataLst>
                    <p:tags r:id="rId12"/>
                  </p:custDataLst>
                </p:nvPr>
              </p:nvPicPr>
              <p:blipFill>
                <a:blip r:embed="rId13">
                  <a:extLst>
                    <a:ext uri="{96DAC541-7B7A-43D3-8B79-37D633B846F1}">
                      <asvg:svgBlip xmlns:asvg="http://schemas.microsoft.com/office/drawing/2016/SVG/main" r:embed="rId1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914" y="1016"/>
                  <a:ext cx="2603" cy="2603"/>
                </a:xfrm>
                <a:prstGeom prst="rect">
                  <a:avLst/>
                </a:prstGeom>
              </p:spPr>
            </p:pic>
            <p:pic>
              <p:nvPicPr>
                <p:cNvPr id="42" name="图片 41" descr="DOC"/>
                <p:cNvPicPr>
                  <a:picLocks noChangeAspect="1"/>
                </p:cNvPicPr>
                <p:nvPr>
                  <p:custDataLst>
                    <p:tags r:id="rId15"/>
                  </p:custDataLst>
                </p:nvPr>
              </p:nvPicPr>
              <p:blipFill>
                <a:blip r:embed="rId16">
                  <a:extLst>
                    <a:ext uri="{96DAC541-7B7A-43D3-8B79-37D633B846F1}">
                      <asvg:svgBlip xmlns:asvg="http://schemas.microsoft.com/office/drawing/2016/SVG/main" r:embed="rId1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846" y="1040"/>
                  <a:ext cx="2555" cy="2555"/>
                </a:xfrm>
                <a:prstGeom prst="rect">
                  <a:avLst/>
                </a:prstGeom>
              </p:spPr>
            </p:pic>
          </p:grpSp>
          <p:sp>
            <p:nvSpPr>
              <p:cNvPr id="43" name="文本框 42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8923" y="6519"/>
                <a:ext cx="2559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>
                    <a:latin typeface="Times New Roman" panose="02020603050405020304" charset="0"/>
                    <a:cs typeface="Times New Roman" panose="02020603050405020304" charset="0"/>
                  </a:rPr>
                  <a:t>Standard Specification Document</a:t>
                </a:r>
                <a:endParaRPr lang="en-US" altLang="zh-CN" sz="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44" name="组合 43"/>
            <p:cNvGrpSpPr/>
            <p:nvPr/>
          </p:nvGrpSpPr>
          <p:grpSpPr>
            <a:xfrm>
              <a:off x="1746" y="8889"/>
              <a:ext cx="2558" cy="1114"/>
              <a:chOff x="9425" y="2609"/>
              <a:chExt cx="2558" cy="1114"/>
            </a:xfrm>
          </p:grpSpPr>
          <p:sp>
            <p:nvSpPr>
              <p:cNvPr id="45" name="矩形 44"/>
              <p:cNvSpPr/>
              <p:nvPr>
                <p:custDataLst>
                  <p:tags r:id="rId19"/>
                </p:custDataLst>
              </p:nvPr>
            </p:nvSpPr>
            <p:spPr>
              <a:xfrm>
                <a:off x="9425" y="2609"/>
                <a:ext cx="2558" cy="111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6" name="文本框 45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9425" y="3387"/>
                <a:ext cx="2559" cy="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800">
                    <a:latin typeface="Times New Roman" panose="02020603050405020304" charset="0"/>
                    <a:cs typeface="Times New Roman" panose="02020603050405020304" charset="0"/>
                  </a:rPr>
                  <a:t>Intermediate Representation </a:t>
                </a:r>
                <a:r>
                  <a:rPr lang="en-US" altLang="zh-CN" sz="800">
                    <a:latin typeface="Times New Roman" panose="02020603050405020304" charset="0"/>
                    <a:cs typeface="Times New Roman" panose="02020603050405020304" charset="0"/>
                  </a:rPr>
                  <a:t>Json</a:t>
                </a:r>
                <a:endParaRPr lang="en-US" altLang="zh-CN" sz="8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grpSp>
            <p:nvGrpSpPr>
              <p:cNvPr id="47" name="组合 46"/>
              <p:cNvGrpSpPr/>
              <p:nvPr/>
            </p:nvGrpSpPr>
            <p:grpSpPr>
              <a:xfrm>
                <a:off x="9917" y="2671"/>
                <a:ext cx="1499" cy="664"/>
                <a:chOff x="11138" y="1583"/>
                <a:chExt cx="1499" cy="664"/>
              </a:xfrm>
            </p:grpSpPr>
            <p:pic>
              <p:nvPicPr>
                <p:cNvPr id="48" name="图片 47" descr="json输出"/>
                <p:cNvPicPr>
                  <a:picLocks noChangeAspect="1"/>
                </p:cNvPicPr>
                <p:nvPr>
                  <p:custDataLst>
                    <p:tags r:id="rId21"/>
                  </p:custDataLst>
                </p:nvPr>
              </p:nvPicPr>
              <p:blipFill>
                <a:blip r:embed="rId22">
                  <a:extLst>
                    <a:ext uri="{96DAC541-7B7A-43D3-8B79-37D633B846F1}">
                      <asvg:svgBlip xmlns:asvg="http://schemas.microsoft.com/office/drawing/2016/SVG/main" r:embed="rId2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138" y="1632"/>
                  <a:ext cx="528" cy="528"/>
                </a:xfrm>
                <a:prstGeom prst="rect">
                  <a:avLst/>
                </a:prstGeom>
              </p:spPr>
            </p:pic>
            <p:pic>
              <p:nvPicPr>
                <p:cNvPr id="49" name="图片 48" descr="jsonSchema"/>
                <p:cNvPicPr>
                  <a:picLocks noChangeAspect="1"/>
                </p:cNvPicPr>
                <p:nvPr>
                  <p:custDataLst>
                    <p:tags r:id="rId24"/>
                  </p:custDataLst>
                </p:nvPr>
              </p:nvPicPr>
              <p:blipFill>
                <a:blip r:embed="rId25">
                  <a:extLst>
                    <a:ext uri="{96DAC541-7B7A-43D3-8B79-37D633B846F1}">
                      <asvg:svgBlip xmlns:asvg="http://schemas.microsoft.com/office/drawing/2016/SVG/main" r:embed="rId2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973" y="1583"/>
                  <a:ext cx="664" cy="664"/>
                </a:xfrm>
                <a:prstGeom prst="rect">
                  <a:avLst/>
                </a:prstGeom>
              </p:spPr>
            </p:pic>
          </p:grpSp>
        </p:grpSp>
        <p:cxnSp>
          <p:nvCxnSpPr>
            <p:cNvPr id="50" name="直接箭头连接符 49"/>
            <p:cNvCxnSpPr/>
            <p:nvPr>
              <p:custDataLst>
                <p:tags r:id="rId27"/>
              </p:custDataLst>
            </p:nvPr>
          </p:nvCxnSpPr>
          <p:spPr>
            <a:xfrm>
              <a:off x="3024" y="8319"/>
              <a:ext cx="10" cy="57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1" name="组合 20"/>
          <p:cNvGrpSpPr/>
          <p:nvPr/>
        </p:nvGrpSpPr>
        <p:grpSpPr>
          <a:xfrm>
            <a:off x="4280535" y="1285875"/>
            <a:ext cx="1625600" cy="1751330"/>
            <a:chOff x="6741" y="2025"/>
            <a:chExt cx="2560" cy="2758"/>
          </a:xfrm>
        </p:grpSpPr>
        <p:sp>
          <p:nvSpPr>
            <p:cNvPr id="8" name="矩形 7"/>
            <p:cNvSpPr/>
            <p:nvPr>
              <p:custDataLst>
                <p:tags r:id="rId28"/>
              </p:custDataLst>
            </p:nvPr>
          </p:nvSpPr>
          <p:spPr>
            <a:xfrm>
              <a:off x="6742" y="2025"/>
              <a:ext cx="2558" cy="11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9" name="图片 8" descr="json输入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7721" y="2143"/>
              <a:ext cx="600" cy="600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>
              <p:custDataLst>
                <p:tags r:id="rId32"/>
              </p:custDataLst>
            </p:nvPr>
          </p:nvSpPr>
          <p:spPr>
            <a:xfrm>
              <a:off x="7410" y="2803"/>
              <a:ext cx="1221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800">
                  <a:latin typeface="Times New Roman" panose="02020603050405020304" charset="0"/>
                  <a:cs typeface="Times New Roman" panose="02020603050405020304" charset="0"/>
                </a:rPr>
                <a:t>Retrieved IR</a:t>
              </a:r>
              <a:endParaRPr lang="en-US" altLang="zh-CN" sz="8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6741" y="3669"/>
              <a:ext cx="2560" cy="111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741" y="4443"/>
              <a:ext cx="2560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800">
                  <a:latin typeface="Times New Roman" panose="02020603050405020304" charset="0"/>
                  <a:cs typeface="Times New Roman" panose="02020603050405020304" charset="0"/>
                </a:rPr>
                <a:t>Generated Cryptol </a:t>
              </a:r>
              <a:r>
                <a:rPr lang="en-US" altLang="zh-CN" sz="800">
                  <a:latin typeface="Times New Roman" panose="02020603050405020304" charset="0"/>
                  <a:cs typeface="Times New Roman" panose="02020603050405020304" charset="0"/>
                </a:rPr>
                <a:t>Code</a:t>
              </a:r>
              <a:endParaRPr lang="en-US" altLang="zh-CN" sz="80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pic>
          <p:nvPicPr>
            <p:cNvPr id="15" name="图片 14" descr="代码文件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697" y="3780"/>
              <a:ext cx="647" cy="647"/>
            </a:xfrm>
            <a:prstGeom prst="rect">
              <a:avLst/>
            </a:prstGeom>
          </p:spPr>
        </p:pic>
        <p:cxnSp>
          <p:nvCxnSpPr>
            <p:cNvPr id="20" name="直接箭头连接符 19"/>
            <p:cNvCxnSpPr>
              <a:stCxn id="10" idx="2"/>
              <a:endCxn id="11" idx="0"/>
            </p:cNvCxnSpPr>
            <p:nvPr/>
          </p:nvCxnSpPr>
          <p:spPr>
            <a:xfrm>
              <a:off x="8021" y="3140"/>
              <a:ext cx="0" cy="529"/>
            </a:xfrm>
            <a:prstGeom prst="straightConnector1">
              <a:avLst/>
            </a:prstGeom>
            <a:ln w="15875">
              <a:solidFill>
                <a:srgbClr val="20202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矩形 23"/>
          <p:cNvSpPr/>
          <p:nvPr>
            <p:custDataLst>
              <p:tags r:id="rId1"/>
            </p:custDataLst>
          </p:nvPr>
        </p:nvSpPr>
        <p:spPr>
          <a:xfrm>
            <a:off x="2833370" y="5857875"/>
            <a:ext cx="1624330" cy="7080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rot="5400000" flipH="1">
            <a:off x="3465195" y="5342255"/>
            <a:ext cx="360045" cy="360045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4"/>
            </p:custDataLst>
          </p:nvPr>
        </p:nvSpPr>
        <p:spPr>
          <a:xfrm>
            <a:off x="2833370" y="6302375"/>
            <a:ext cx="16236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>
                <a:latin typeface="Times New Roman" panose="02020603050405020304" charset="0"/>
                <a:cs typeface="Times New Roman" panose="02020603050405020304" charset="0"/>
              </a:rPr>
              <a:t>Fixes Generated Code</a:t>
            </a:r>
            <a:endParaRPr lang="en-US" altLang="zh-CN" sz="1000">
              <a:latin typeface="Times New Roman" panose="02020603050405020304" charset="0"/>
              <a:cs typeface="Times New Roman" panose="02020603050405020304" charset="0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2667000" y="408940"/>
            <a:ext cx="6343015" cy="4109720"/>
            <a:chOff x="4200" y="644"/>
            <a:chExt cx="9989" cy="6472"/>
          </a:xfrm>
        </p:grpSpPr>
        <p:sp>
          <p:nvSpPr>
            <p:cNvPr id="4" name="圆角矩形 3"/>
            <p:cNvSpPr/>
            <p:nvPr/>
          </p:nvSpPr>
          <p:spPr>
            <a:xfrm>
              <a:off x="4200" y="644"/>
              <a:ext cx="6898" cy="6472"/>
            </a:xfrm>
            <a:prstGeom prst="roundRect">
              <a:avLst>
                <a:gd name="adj" fmla="val 5717"/>
              </a:avLst>
            </a:prstGeom>
            <a:solidFill>
              <a:srgbClr val="EDFAF2"/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5433" y="653"/>
              <a:ext cx="4432" cy="498"/>
              <a:chOff x="7718" y="2765"/>
              <a:chExt cx="4432" cy="498"/>
            </a:xfrm>
          </p:grpSpPr>
          <p:sp>
            <p:nvSpPr>
              <p:cNvPr id="13" name="文本框 12"/>
              <p:cNvSpPr txBox="1"/>
              <p:nvPr/>
            </p:nvSpPr>
            <p:spPr>
              <a:xfrm>
                <a:off x="7810" y="2765"/>
                <a:ext cx="4341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 u="sng">
                    <a:solidFill>
                      <a:schemeClr val="tx1"/>
                    </a:solidFill>
                    <a:uFillTx/>
                    <a:latin typeface="Times New Roman" panose="02020603050405020304" charset="0"/>
                    <a:cs typeface="Times New Roman" panose="02020603050405020304" charset="0"/>
                  </a:rPr>
                  <a:t>Compilation &amp; Fixing Agent</a:t>
                </a:r>
                <a:endParaRPr lang="en-US" altLang="zh-CN" sz="1400" u="sng">
                  <a:solidFill>
                    <a:schemeClr val="tx1"/>
                  </a:solidFill>
                  <a:uFillTx/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pic>
            <p:nvPicPr>
              <p:cNvPr id="5" name="图片 4"/>
              <p:cNvPicPr>
                <a:picLocks noChangeAspect="1"/>
              </p:cNvPicPr>
              <p:nvPr/>
            </p:nvPicPr>
            <p:blipFill>
              <a:blip r:embed="rId5"/>
              <a:srcRect l="2066" t="-1111" r="12672" b="21250"/>
              <a:stretch>
                <a:fillRect/>
              </a:stretch>
            </p:blipFill>
            <p:spPr>
              <a:xfrm>
                <a:off x="7718" y="2765"/>
                <a:ext cx="537" cy="499"/>
              </a:xfrm>
              <a:prstGeom prst="rect">
                <a:avLst/>
              </a:prstGeom>
            </p:spPr>
          </p:pic>
        </p:grpSp>
        <p:grpSp>
          <p:nvGrpSpPr>
            <p:cNvPr id="16" name="组合 15"/>
            <p:cNvGrpSpPr/>
            <p:nvPr/>
          </p:nvGrpSpPr>
          <p:grpSpPr>
            <a:xfrm>
              <a:off x="11613" y="1688"/>
              <a:ext cx="2343" cy="1502"/>
              <a:chOff x="10527" y="3670"/>
              <a:chExt cx="2343" cy="1502"/>
            </a:xfrm>
          </p:grpSpPr>
          <p:sp>
            <p:nvSpPr>
              <p:cNvPr id="59" name="圆角矩形 58"/>
              <p:cNvSpPr/>
              <p:nvPr/>
            </p:nvSpPr>
            <p:spPr>
              <a:xfrm>
                <a:off x="10527" y="3670"/>
                <a:ext cx="2342" cy="1503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57" name="图片 56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648" y="4493"/>
                <a:ext cx="468" cy="468"/>
              </a:xfrm>
              <a:prstGeom prst="rect">
                <a:avLst/>
              </a:prstGeom>
            </p:spPr>
          </p:pic>
          <p:sp>
            <p:nvSpPr>
              <p:cNvPr id="60" name="文本框 59"/>
              <p:cNvSpPr txBox="1"/>
              <p:nvPr/>
            </p:nvSpPr>
            <p:spPr>
              <a:xfrm>
                <a:off x="10527" y="3670"/>
                <a:ext cx="2343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Output</a:t>
                </a:r>
                <a:endParaRPr lang="en-US" altLang="zh-CN" sz="1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61" name="文本框 60"/>
              <p:cNvSpPr txBox="1"/>
              <p:nvPr/>
            </p:nvSpPr>
            <p:spPr>
              <a:xfrm>
                <a:off x="11116" y="4447"/>
                <a:ext cx="1755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000">
                    <a:latin typeface="Times New Roman" panose="02020603050405020304" charset="0"/>
                    <a:cs typeface="Times New Roman" panose="02020603050405020304" charset="0"/>
                  </a:rPr>
                  <a:t>Final Cryptol Code</a:t>
                </a:r>
                <a:endParaRPr lang="en-US" altLang="zh-CN" sz="1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>
              <a:off x="11733" y="4953"/>
              <a:ext cx="2456" cy="1605"/>
              <a:chOff x="10526" y="5374"/>
              <a:chExt cx="2456" cy="1605"/>
            </a:xfrm>
          </p:grpSpPr>
          <p:sp>
            <p:nvSpPr>
              <p:cNvPr id="3" name="圆角矩形 2"/>
              <p:cNvSpPr/>
              <p:nvPr/>
            </p:nvSpPr>
            <p:spPr>
              <a:xfrm>
                <a:off x="10526" y="5374"/>
                <a:ext cx="2343" cy="1605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10527" y="5476"/>
                <a:ext cx="2343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600">
                    <a:latin typeface="Times New Roman" panose="02020603050405020304" charset="0"/>
                    <a:cs typeface="Times New Roman" panose="02020603050405020304" charset="0"/>
                  </a:rPr>
                  <a:t>Failure Output</a:t>
                </a:r>
                <a:endParaRPr lang="en-US" altLang="zh-CN" sz="16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11115" y="6228"/>
                <a:ext cx="1867" cy="75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1000">
                    <a:latin typeface="Times New Roman" panose="02020603050405020304" charset="0"/>
                    <a:cs typeface="Times New Roman" panose="02020603050405020304" charset="0"/>
                  </a:rPr>
                  <a:t>Code with compilation errors</a:t>
                </a:r>
                <a:endParaRPr lang="en-US" altLang="zh-CN" sz="1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pic>
            <p:nvPicPr>
              <p:cNvPr id="12" name="图片 11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635" y="6299"/>
                <a:ext cx="480" cy="480"/>
              </a:xfrm>
              <a:prstGeom prst="rect">
                <a:avLst/>
              </a:prstGeom>
            </p:spPr>
          </p:pic>
        </p:grpSp>
        <p:grpSp>
          <p:nvGrpSpPr>
            <p:cNvPr id="37" name="组合 36"/>
            <p:cNvGrpSpPr/>
            <p:nvPr/>
          </p:nvGrpSpPr>
          <p:grpSpPr>
            <a:xfrm>
              <a:off x="5046" y="1424"/>
              <a:ext cx="2578" cy="1326"/>
              <a:chOff x="5656" y="5642"/>
              <a:chExt cx="2578" cy="1326"/>
            </a:xfrm>
          </p:grpSpPr>
          <p:sp>
            <p:nvSpPr>
              <p:cNvPr id="39" name="矩形 38"/>
              <p:cNvSpPr/>
              <p:nvPr>
                <p:custDataLst>
                  <p:tags r:id="rId8"/>
                </p:custDataLst>
              </p:nvPr>
            </p:nvSpPr>
            <p:spPr>
              <a:xfrm>
                <a:off x="5656" y="6014"/>
                <a:ext cx="2558" cy="9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7" name="图片 6"/>
              <p:cNvPicPr>
                <a:picLocks noChangeAspect="1"/>
              </p:cNvPicPr>
              <p:nvPr>
                <p:custDataLst>
                  <p:tags r:id="rId9"/>
                </p:custDataLst>
              </p:nvPr>
            </p:nvPicPr>
            <p:blipFill>
              <a:blip r:embed="rId10"/>
              <a:stretch>
                <a:fillRect/>
              </a:stretch>
            </p:blipFill>
            <p:spPr>
              <a:xfrm>
                <a:off x="6651" y="6080"/>
                <a:ext cx="567" cy="567"/>
              </a:xfrm>
              <a:prstGeom prst="rect">
                <a:avLst/>
              </a:prstGeom>
            </p:spPr>
          </p:pic>
          <p:sp>
            <p:nvSpPr>
              <p:cNvPr id="19" name="文本框 18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5676" y="6581"/>
                <a:ext cx="2558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>
                    <a:latin typeface="Times New Roman" panose="02020603050405020304" charset="0"/>
                    <a:cs typeface="Times New Roman" panose="02020603050405020304" charset="0"/>
                  </a:rPr>
                  <a:t>Compile </a:t>
                </a:r>
                <a:r>
                  <a:rPr lang="en-US" altLang="zh-CN" sz="1000">
                    <a:latin typeface="Times New Roman" panose="02020603050405020304" charset="0"/>
                    <a:cs typeface="Times New Roman" panose="02020603050405020304" charset="0"/>
                  </a:rPr>
                  <a:t>Code</a:t>
                </a:r>
                <a:endParaRPr lang="en-US" altLang="zh-CN" sz="1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5656" y="5642"/>
                <a:ext cx="2559" cy="365"/>
              </a:xfrm>
              <a:prstGeom prst="rect">
                <a:avLst/>
              </a:prstGeom>
              <a:solidFill>
                <a:srgbClr val="EDFAF2"/>
              </a:solidFill>
              <a:ln>
                <a:solidFill>
                  <a:srgbClr val="32323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0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Step1: Compile Code</a:t>
                </a:r>
                <a:endPara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5046" y="5055"/>
              <a:ext cx="2579" cy="1326"/>
              <a:chOff x="5657" y="3437"/>
              <a:chExt cx="2578" cy="1326"/>
            </a:xfrm>
          </p:grpSpPr>
          <p:sp>
            <p:nvSpPr>
              <p:cNvPr id="29" name="矩形 28"/>
              <p:cNvSpPr/>
              <p:nvPr>
                <p:custDataLst>
                  <p:tags r:id="rId12"/>
                </p:custDataLst>
              </p:nvPr>
            </p:nvSpPr>
            <p:spPr>
              <a:xfrm>
                <a:off x="5657" y="3809"/>
                <a:ext cx="2558" cy="9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1" name="文本框 30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5677" y="4376"/>
                <a:ext cx="2558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>
                    <a:latin typeface="Times New Roman" panose="02020603050405020304" charset="0"/>
                    <a:cs typeface="Times New Roman" panose="02020603050405020304" charset="0"/>
                  </a:rPr>
                  <a:t>Fix Generated Code</a:t>
                </a:r>
                <a:endParaRPr lang="en-US" altLang="zh-CN" sz="1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32" name="矩形 31"/>
              <p:cNvSpPr/>
              <p:nvPr/>
            </p:nvSpPr>
            <p:spPr>
              <a:xfrm>
                <a:off x="5657" y="3437"/>
                <a:ext cx="2559" cy="365"/>
              </a:xfrm>
              <a:prstGeom prst="rect">
                <a:avLst/>
              </a:prstGeom>
              <a:solidFill>
                <a:srgbClr val="EDFAF2"/>
              </a:solidFill>
              <a:ln>
                <a:solidFill>
                  <a:srgbClr val="32323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00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Step2: Fix Generated Code</a:t>
                </a:r>
                <a:endPara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pic>
            <p:nvPicPr>
              <p:cNvPr id="17" name="图片 16"/>
              <p:cNvPicPr>
                <a:picLocks noChangeAspect="1"/>
              </p:cNvPicPr>
              <p:nvPr>
                <p:custDataLst>
                  <p:tags r:id="rId14"/>
                </p:custDataLst>
              </p:nvPr>
            </p:nvPicPr>
            <p:blipFill>
              <a:blip r:embed="rId15"/>
              <a:stretch>
                <a:fillRect/>
              </a:stretch>
            </p:blipFill>
            <p:spPr>
              <a:xfrm>
                <a:off x="6652" y="3848"/>
                <a:ext cx="506" cy="506"/>
              </a:xfrm>
              <a:prstGeom prst="rect">
                <a:avLst/>
              </a:prstGeom>
            </p:spPr>
          </p:pic>
        </p:grpSp>
        <p:sp>
          <p:nvSpPr>
            <p:cNvPr id="33" name="菱形 32"/>
            <p:cNvSpPr/>
            <p:nvPr/>
          </p:nvSpPr>
          <p:spPr>
            <a:xfrm>
              <a:off x="5047" y="3323"/>
              <a:ext cx="2559" cy="1044"/>
            </a:xfrm>
            <a:prstGeom prst="diamond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successful</a:t>
              </a:r>
              <a:r>
                <a:rPr lang="zh-CN" altLang="en-US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？</a:t>
              </a:r>
              <a:endParaRPr lang="zh-CN" altLang="en-US" sz="10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8265" y="5233"/>
              <a:ext cx="2558" cy="1044"/>
              <a:chOff x="14688" y="2214"/>
              <a:chExt cx="2558" cy="1044"/>
            </a:xfrm>
          </p:grpSpPr>
          <p:sp>
            <p:nvSpPr>
              <p:cNvPr id="34" name="菱形 33"/>
              <p:cNvSpPr/>
              <p:nvPr/>
            </p:nvSpPr>
            <p:spPr>
              <a:xfrm>
                <a:off x="14688" y="2214"/>
                <a:ext cx="2559" cy="1044"/>
              </a:xfrm>
              <a:prstGeom prst="diamond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00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15357" y="2430"/>
                <a:ext cx="1491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000">
                    <a:latin typeface="Times New Roman" panose="02020603050405020304" charset="0"/>
                    <a:cs typeface="Times New Roman" panose="02020603050405020304" charset="0"/>
                  </a:rPr>
                  <a:t>Retry Limited Reached </a:t>
                </a:r>
                <a:r>
                  <a:rPr lang="zh-CN" altLang="en-US" sz="1000">
                    <a:latin typeface="Times New Roman" panose="02020603050405020304" charset="0"/>
                    <a:cs typeface="Times New Roman" panose="02020603050405020304" charset="0"/>
                  </a:rPr>
                  <a:t>？</a:t>
                </a:r>
                <a:endParaRPr lang="zh-CN" altLang="en-US" sz="1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cxnSp>
          <p:nvCxnSpPr>
            <p:cNvPr id="40" name="曲线连接符 39"/>
            <p:cNvCxnSpPr>
              <a:endCxn id="33" idx="0"/>
            </p:cNvCxnSpPr>
            <p:nvPr/>
          </p:nvCxnSpPr>
          <p:spPr>
            <a:xfrm rot="5400000" flipV="1">
              <a:off x="6037" y="3033"/>
              <a:ext cx="574" cy="5"/>
            </a:xfrm>
            <a:prstGeom prst="curvedConnector2">
              <a:avLst/>
            </a:prstGeom>
            <a:ln w="19050" cap="flat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6" name="肘形连接符 45"/>
            <p:cNvCxnSpPr/>
            <p:nvPr/>
          </p:nvCxnSpPr>
          <p:spPr>
            <a:xfrm rot="5400000" flipH="1">
              <a:off x="5293" y="2025"/>
              <a:ext cx="4004" cy="4499"/>
            </a:xfrm>
            <a:prstGeom prst="bentConnector4">
              <a:avLst>
                <a:gd name="adj1" fmla="val -9353"/>
                <a:gd name="adj2" fmla="val 108346"/>
              </a:avLst>
            </a:prstGeom>
            <a:ln w="19050" cap="flat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7" name="肘形连接符 46"/>
            <p:cNvCxnSpPr>
              <a:stCxn id="33" idx="2"/>
              <a:endCxn id="32" idx="0"/>
            </p:cNvCxnSpPr>
            <p:nvPr/>
          </p:nvCxnSpPr>
          <p:spPr>
            <a:xfrm rot="5400000">
              <a:off x="5983" y="4711"/>
              <a:ext cx="688" cy="1"/>
            </a:xfrm>
            <a:prstGeom prst="bentConnector3">
              <a:avLst>
                <a:gd name="adj1" fmla="val 49927"/>
              </a:avLst>
            </a:prstGeom>
            <a:ln w="19050" cap="flat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8" name="肘形连接符 47"/>
            <p:cNvCxnSpPr>
              <a:stCxn id="33" idx="3"/>
              <a:endCxn id="59" idx="1"/>
            </p:cNvCxnSpPr>
            <p:nvPr/>
          </p:nvCxnSpPr>
          <p:spPr>
            <a:xfrm flipV="1">
              <a:off x="7606" y="2440"/>
              <a:ext cx="4007" cy="1405"/>
            </a:xfrm>
            <a:prstGeom prst="bentConnector3">
              <a:avLst>
                <a:gd name="adj1" fmla="val 50012"/>
              </a:avLst>
            </a:prstGeom>
            <a:ln w="19050" cap="flat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9" name="肘形连接符 48"/>
            <p:cNvCxnSpPr>
              <a:endCxn id="34" idx="0"/>
            </p:cNvCxnSpPr>
            <p:nvPr/>
          </p:nvCxnSpPr>
          <p:spPr>
            <a:xfrm flipV="1">
              <a:off x="7603" y="5233"/>
              <a:ext cx="1942" cy="522"/>
            </a:xfrm>
            <a:prstGeom prst="bentConnector4">
              <a:avLst>
                <a:gd name="adj1" fmla="val 17096"/>
                <a:gd name="adj2" fmla="val 171839"/>
              </a:avLst>
            </a:prstGeom>
            <a:ln w="19050" cap="flat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3" name="肘形连接符 52"/>
            <p:cNvCxnSpPr>
              <a:stCxn id="34" idx="3"/>
              <a:endCxn id="3" idx="1"/>
            </p:cNvCxnSpPr>
            <p:nvPr/>
          </p:nvCxnSpPr>
          <p:spPr>
            <a:xfrm>
              <a:off x="10824" y="5755"/>
              <a:ext cx="909" cy="1"/>
            </a:xfrm>
            <a:prstGeom prst="bentConnector3">
              <a:avLst>
                <a:gd name="adj1" fmla="val 50055"/>
              </a:avLst>
            </a:prstGeom>
            <a:ln w="19050" cap="flat" cmpd="sng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2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3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4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5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6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7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8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9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10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11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12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13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14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15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16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17.xml><?xml version="1.0" encoding="utf-8"?>
<p:tagLst xmlns:p="http://schemas.openxmlformats.org/presentationml/2006/main">
  <p:tag name="KSO_WM_DIAGRAM_VIRTUALLY_FRAME" val="{&quot;height&quot;:231.8,&quot;left&quot;:122.7,&quot;top&quot;:44.1,&quot;width&quot;:540.85}"/>
</p:tagLst>
</file>

<file path=ppt/tags/tag18.xml><?xml version="1.0" encoding="utf-8"?>
<p:tagLst xmlns:p="http://schemas.openxmlformats.org/presentationml/2006/main">
  <p:tag name="KSO_WM_DIAGRAM_VIRTUALLY_FRAME" val="{&quot;height&quot;:231.8,&quot;left&quot;:122.7,&quot;top&quot;:44.1,&quot;width&quot;:540.85}"/>
</p:tagLst>
</file>

<file path=ppt/tags/tag19.xml><?xml version="1.0" encoding="utf-8"?>
<p:tagLst xmlns:p="http://schemas.openxmlformats.org/presentationml/2006/main">
  <p:tag name="KSO_WM_DIAGRAM_VIRTUALLY_FRAME" val="{&quot;height&quot;:231.8,&quot;left&quot;:122.7,&quot;top&quot;:44.1,&quot;width&quot;:540.85}"/>
</p:tagLst>
</file>

<file path=ppt/tags/tag20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21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22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23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24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25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26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27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28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29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30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31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32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33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34.xml><?xml version="1.0" encoding="utf-8"?>
<p:tagLst xmlns:p="http://schemas.openxmlformats.org/presentationml/2006/main">
  <p:tag name="KSO_WM_DIAGRAM_VIRTUALLY_FRAME" val="{&quot;height&quot;:231.8,&quot;left&quot;:122.7,&quot;top&quot;:44.1,&quot;width&quot;:540.85}"/>
</p:tagLst>
</file>

<file path=ppt/tags/tag35.xml><?xml version="1.0" encoding="utf-8"?>
<p:tagLst xmlns:p="http://schemas.openxmlformats.org/presentationml/2006/main">
  <p:tag name="KSO_WM_DIAGRAM_VIRTUALLY_FRAME" val="{&quot;height&quot;:231.8,&quot;left&quot;:122.7,&quot;top&quot;:44.1,&quot;width&quot;:540.85}"/>
</p:tagLst>
</file>

<file path=ppt/tags/tag36.xml><?xml version="1.0" encoding="utf-8"?>
<p:tagLst xmlns:p="http://schemas.openxmlformats.org/presentationml/2006/main">
  <p:tag name="KSO_WM_DIAGRAM_VIRTUALLY_FRAME" val="{&quot;height&quot;:231.8,&quot;left&quot;:122.7,&quot;top&quot;:44.1,&quot;width&quot;:540.85}"/>
</p:tagLst>
</file>

<file path=ppt/tags/tag37.xml><?xml version="1.0" encoding="utf-8"?>
<p:tagLst xmlns:p="http://schemas.openxmlformats.org/presentationml/2006/main">
  <p:tag name="KSO_WM_DIAGRAM_VIRTUALLY_FRAME" val="{&quot;height&quot;:217.15,&quot;left&quot;:103.75,&quot;top&quot;:102.8,&quot;width&quot;:641.6770656879353}"/>
</p:tagLst>
</file>

<file path=ppt/tags/tag38.xml><?xml version="1.0" encoding="utf-8"?>
<p:tagLst xmlns:p="http://schemas.openxmlformats.org/presentationml/2006/main">
  <p:tag name="KSO_WM_DIAGRAM_VIRTUALLY_FRAME" val="{&quot;height&quot;:217.15,&quot;left&quot;:103.75,&quot;top&quot;:102.8,&quot;width&quot;:641.6770656879353}"/>
</p:tagLst>
</file>

<file path=ppt/tags/tag39.xml><?xml version="1.0" encoding="utf-8"?>
<p:tagLst xmlns:p="http://schemas.openxmlformats.org/presentationml/2006/main">
  <p:tag name="KSO_WM_DIAGRAM_VIRTUALLY_FRAME" val="{&quot;height&quot;:217.15,&quot;left&quot;:103.75,&quot;top&quot;:102.8,&quot;width&quot;:641.6770656879353}"/>
</p:tagLst>
</file>

<file path=ppt/tags/tag40.xml><?xml version="1.0" encoding="utf-8"?>
<p:tagLst xmlns:p="http://schemas.openxmlformats.org/presentationml/2006/main">
  <p:tag name="KSO_WM_DIAGRAM_VIRTUALLY_FRAME" val="{&quot;height&quot;:217.15,&quot;left&quot;:103.75,&quot;top&quot;:102.8,&quot;width&quot;:641.6770656879353}"/>
</p:tagLst>
</file>

<file path=ppt/tags/tag41.xml><?xml version="1.0" encoding="utf-8"?>
<p:tagLst xmlns:p="http://schemas.openxmlformats.org/presentationml/2006/main">
  <p:tag name="KSO_WM_DIAGRAM_VIRTUALLY_FRAME" val="{&quot;height&quot;:217.15,&quot;left&quot;:103.75,&quot;top&quot;:102.8,&quot;width&quot;:641.6770656879353}"/>
</p:tagLst>
</file>

<file path=ppt/tags/tag42.xml><?xml version="1.0" encoding="utf-8"?>
<p:tagLst xmlns:p="http://schemas.openxmlformats.org/presentationml/2006/main">
  <p:tag name="KSO_WM_DIAGRAM_VIRTUALLY_FRAME" val="{&quot;height&quot;:217.15,&quot;left&quot;:103.75,&quot;top&quot;:102.8,&quot;width&quot;:641.6770656879353}"/>
</p:tagLst>
</file>

<file path=ppt/tags/tag43.xml><?xml version="1.0" encoding="utf-8"?>
<p:tagLst xmlns:p="http://schemas.openxmlformats.org/presentationml/2006/main">
  <p:tag name="KSO_WM_DIAGRAM_VIRTUALLY_FRAME" val="{&quot;height&quot;:217.15,&quot;left&quot;:103.75,&quot;top&quot;:102.8,&quot;width&quot;:641.6770656879353}"/>
</p:tagLst>
</file>

<file path=ppt/tags/tag44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45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46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47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48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49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50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51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52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53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54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55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56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57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58.xml><?xml version="1.0" encoding="utf-8"?>
<p:tagLst xmlns:p="http://schemas.openxmlformats.org/presentationml/2006/main">
  <p:tag name="KSO_WM_DIAGRAM_VIRTUALLY_FRAME" val="{&quot;height&quot;:231.8,&quot;left&quot;:122.7,&quot;top&quot;:44.1,&quot;width&quot;:540.85}"/>
</p:tagLst>
</file>

<file path=ppt/tags/tag59.xml><?xml version="1.0" encoding="utf-8"?>
<p:tagLst xmlns:p="http://schemas.openxmlformats.org/presentationml/2006/main">
  <p:tag name="KSO_WM_DIAGRAM_VIRTUALLY_FRAME" val="{&quot;height&quot;:231.8,&quot;left&quot;:122.7,&quot;top&quot;:44.1,&quot;width&quot;:540.85}"/>
</p:tagLst>
</file>

<file path=ppt/tags/tag60.xml><?xml version="1.0" encoding="utf-8"?>
<p:tagLst xmlns:p="http://schemas.openxmlformats.org/presentationml/2006/main">
  <p:tag name="KSO_WM_DIAGRAM_VIRTUALLY_FRAME" val="{&quot;height&quot;:231.8,&quot;left&quot;:122.7,&quot;top&quot;:44.1,&quot;width&quot;:540.85}"/>
</p:tagLst>
</file>

<file path=ppt/tags/tag61.xml><?xml version="1.0" encoding="utf-8"?>
<p:tagLst xmlns:p="http://schemas.openxmlformats.org/presentationml/2006/main">
  <p:tag name="KSO_WM_DIAGRAM_VIRTUALLY_FRAME" val="{&quot;height&quot;:281.35,&quot;left&quot;:100.35,&quot;top&quot;:46.3,&quot;width&quot;:697.85}"/>
</p:tagLst>
</file>

<file path=ppt/tags/tag62.xml><?xml version="1.0" encoding="utf-8"?>
<p:tagLst xmlns:p="http://schemas.openxmlformats.org/presentationml/2006/main">
  <p:tag name="KSO_WM_DIAGRAM_VIRTUALLY_FRAME" val="{&quot;height&quot;:281.35,&quot;left&quot;:100.35,&quot;top&quot;:46.3,&quot;width&quot;:697.85}"/>
</p:tagLst>
</file>

<file path=ppt/tags/tag63.xml><?xml version="1.0" encoding="utf-8"?>
<p:tagLst xmlns:p="http://schemas.openxmlformats.org/presentationml/2006/main">
  <p:tag name="KSO_WM_DIAGRAM_VIRTUALLY_FRAME" val="{&quot;height&quot;:281.35,&quot;left&quot;:100.35,&quot;top&quot;:46.3,&quot;width&quot;:697.85}"/>
</p:tagLst>
</file>

<file path=ppt/tags/tag64.xml><?xml version="1.0" encoding="utf-8"?>
<p:tagLst xmlns:p="http://schemas.openxmlformats.org/presentationml/2006/main">
  <p:tag name="KSO_WM_DIAGRAM_VIRTUALLY_FRAME" val="{&quot;height&quot;:281.35,&quot;left&quot;:100.35,&quot;top&quot;:46.3,&quot;width&quot;:697.85}"/>
</p:tagLst>
</file>

<file path=ppt/tags/tag65.xml><?xml version="1.0" encoding="utf-8"?>
<p:tagLst xmlns:p="http://schemas.openxmlformats.org/presentationml/2006/main">
  <p:tag name="KSO_WM_DIAGRAM_VIRTUALLY_FRAME" val="{&quot;height&quot;:281.35,&quot;left&quot;:100.35,&quot;top&quot;:46.3,&quot;width&quot;:697.85}"/>
</p:tagLst>
</file>

<file path=ppt/tags/tag66.xml><?xml version="1.0" encoding="utf-8"?>
<p:tagLst xmlns:p="http://schemas.openxmlformats.org/presentationml/2006/main">
  <p:tag name="KSO_WM_DIAGRAM_VIRTUALLY_FRAME" val="{&quot;height&quot;:281.35,&quot;left&quot;:100.35,&quot;top&quot;:46.3,&quot;width&quot;:697.85}"/>
</p:tagLst>
</file>

<file path=ppt/tags/tag67.xml><?xml version="1.0" encoding="utf-8"?>
<p:tagLst xmlns:p="http://schemas.openxmlformats.org/presentationml/2006/main">
  <p:tag name="KSO_WM_DIAGRAM_VIRTUALLY_FRAME" val="{&quot;height&quot;:231.8,&quot;left&quot;:122.7,&quot;top&quot;:44.1,&quot;width&quot;:540.85}"/>
</p:tagLst>
</file>

<file path=ppt/tags/tag68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69.xml><?xml version="1.0" encoding="utf-8"?>
<p:tagLst xmlns:p="http://schemas.openxmlformats.org/presentationml/2006/main">
  <p:tag name="KSO_WM_DIAGRAM_VIRTUALLY_FRAME" val="{&quot;height&quot;:231.8,&quot;left&quot;:122.7,&quot;top&quot;:44.1,&quot;width&quot;:540.85}"/>
</p:tagLst>
</file>

<file path=ppt/tags/tag70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71.xml><?xml version="1.0" encoding="utf-8"?>
<p:tagLst xmlns:p="http://schemas.openxmlformats.org/presentationml/2006/main">
  <p:tag name="KSO_WM_DIAGRAM_VIRTUALLY_FRAME" val="{&quot;height&quot;:231.8,&quot;left&quot;:122.7,&quot;top&quot;:44.1,&quot;width&quot;:540.85}"/>
</p:tagLst>
</file>

<file path=ppt/tags/tag72.xml><?xml version="1.0" encoding="utf-8"?>
<p:tagLst xmlns:p="http://schemas.openxmlformats.org/presentationml/2006/main">
  <p:tag name="KSO_WM_DIAGRAM_VIRTUALLY_FRAME" val="{&quot;height&quot;:231.8,&quot;left&quot;:122.7,&quot;top&quot;:44.1,&quot;width&quot;:540.85}"/>
</p:tagLst>
</file>

<file path=ppt/tags/tag73.xml><?xml version="1.0" encoding="utf-8"?>
<p:tagLst xmlns:p="http://schemas.openxmlformats.org/presentationml/2006/main">
  <p:tag name="KSO_WM_DIAGRAM_VIRTUALLY_FRAME" val="{&quot;height&quot;:231.8,&quot;left&quot;:122.7,&quot;top&quot;:44.1,&quot;width&quot;:540.85}"/>
</p:tagLst>
</file>

<file path=ppt/tags/tag74.xml><?xml version="1.0" encoding="utf-8"?>
<p:tagLst xmlns:p="http://schemas.openxmlformats.org/presentationml/2006/main">
  <p:tag name="KSO_WM_DIAGRAM_VIRTUALLY_FRAME" val="{&quot;height&quot;:231.8,&quot;left&quot;:122.7,&quot;top&quot;:44.1,&quot;width&quot;:540.85}"/>
</p:tagLst>
</file>

<file path=ppt/tags/tag75.xml><?xml version="1.0" encoding="utf-8"?>
<p:tagLst xmlns:p="http://schemas.openxmlformats.org/presentationml/2006/main">
  <p:tag name="KSO_WM_DIAGRAM_VIRTUALLY_FRAME" val="{&quot;height&quot;:231.8,&quot;left&quot;:122.7,&quot;top&quot;:44.1,&quot;width&quot;:540.85}"/>
</p:tagLst>
</file>

<file path=ppt/tags/tag76.xml><?xml version="1.0" encoding="utf-8"?>
<p:tagLst xmlns:p="http://schemas.openxmlformats.org/presentationml/2006/main">
  <p:tag name="KSO_WM_DIAGRAM_VIRTUALLY_FRAME" val="{&quot;height&quot;:231.8,&quot;left&quot;:122.7,&quot;top&quot;:44.1,&quot;width&quot;:540.85}"/>
</p:tagLst>
</file>

<file path=ppt/tags/tag77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78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79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80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81.xml><?xml version="1.0" encoding="utf-8"?>
<p:tagLst xmlns:p="http://schemas.openxmlformats.org/presentationml/2006/main">
  <p:tag name="KSO_WM_DIAGRAM_VIRTUALLY_FRAME" val="{&quot;height&quot;:231.8,&quot;left&quot;:322.35,&quot;top&quot;:44.1,&quot;width&quot;:181.85}"/>
</p:tagLst>
</file>

<file path=ppt/tags/tag82.xml><?xml version="1.0" encoding="utf-8"?>
<p:tagLst xmlns:p="http://schemas.openxmlformats.org/presentationml/2006/main">
  <p:tag name="KSO_WM_DIAGRAM_VIRTUALLY_FRAME" val="{&quot;height&quot;:231.8,&quot;left&quot;:122.7,&quot;top&quot;:44.1,&quot;width&quot;:540.85}"/>
</p:tagLst>
</file>

<file path=ppt/tags/tag83.xml><?xml version="1.0" encoding="utf-8"?>
<p:tagLst xmlns:p="http://schemas.openxmlformats.org/presentationml/2006/main">
  <p:tag name="KSO_WM_DIAGRAM_VIRTUALLY_FRAME" val="{&quot;height&quot;:231.8,&quot;left&quot;:122.7,&quot;top&quot;:44.1,&quot;width&quot;:540.85}"/>
</p:tagLst>
</file>

<file path=ppt/tags/tag84.xml><?xml version="1.0" encoding="utf-8"?>
<p:tagLst xmlns:p="http://schemas.openxmlformats.org/presentationml/2006/main">
  <p:tag name="KSO_WM_DIAGRAM_VIRTUALLY_FRAME" val="{&quot;height&quot;:231.8,&quot;left&quot;:122.7,&quot;top&quot;:44.1,&quot;width&quot;:540.85}"/>
</p:tagLst>
</file>

<file path=ppt/tags/tag85.xml><?xml version="1.0" encoding="utf-8"?>
<p:tagLst xmlns:p="http://schemas.openxmlformats.org/presentationml/2006/main">
  <p:tag name="KSO_WM_DIAGRAM_VIRTUALLY_FRAME" val="{&quot;height&quot;:281.35,&quot;left&quot;:100.35,&quot;top&quot;:46.3,&quot;width&quot;:697.85}"/>
</p:tagLst>
</file>

<file path=ppt/tags/tag86.xml><?xml version="1.0" encoding="utf-8"?>
<p:tagLst xmlns:p="http://schemas.openxmlformats.org/presentationml/2006/main">
  <p:tag name="KSO_WM_DIAGRAM_VIRTUALLY_FRAME" val="{&quot;height&quot;:281.35,&quot;left&quot;:100.35,&quot;top&quot;:46.3,&quot;width&quot;:697.85}"/>
</p:tagLst>
</file>

<file path=ppt/tags/tag87.xml><?xml version="1.0" encoding="utf-8"?>
<p:tagLst xmlns:p="http://schemas.openxmlformats.org/presentationml/2006/main">
  <p:tag name="KSO_WM_DIAGRAM_VIRTUALLY_FRAME" val="{&quot;height&quot;:281.35,&quot;left&quot;:100.35,&quot;top&quot;:46.3,&quot;width&quot;:697.85}"/>
</p:tagLst>
</file>

<file path=ppt/tags/tag88.xml><?xml version="1.0" encoding="utf-8"?>
<p:tagLst xmlns:p="http://schemas.openxmlformats.org/presentationml/2006/main">
  <p:tag name="KSO_WM_DIAGRAM_VIRTUALLY_FRAME" val="{&quot;height&quot;:281.35,&quot;left&quot;:100.35,&quot;top&quot;:46.3,&quot;width&quot;:697.85}"/>
</p:tagLst>
</file>

<file path=ppt/tags/tag89.xml><?xml version="1.0" encoding="utf-8"?>
<p:tagLst xmlns:p="http://schemas.openxmlformats.org/presentationml/2006/main">
  <p:tag name="KSO_WM_DIAGRAM_VIRTUALLY_FRAME" val="{&quot;height&quot;:281.35,&quot;left&quot;:100.35,&quot;top&quot;:46.3,&quot;width&quot;:697.85}"/>
</p:tagLst>
</file>

<file path=ppt/tags/tag90.xml><?xml version="1.0" encoding="utf-8"?>
<p:tagLst xmlns:p="http://schemas.openxmlformats.org/presentationml/2006/main">
  <p:tag name="KSO_WM_DIAGRAM_VIRTUALLY_FRAME" val="{&quot;height&quot;:281.35,&quot;left&quot;:100.35,&quot;top&quot;:46.3,&quot;width&quot;:697.85}"/>
</p:tagLst>
</file>

<file path=ppt/tags/tag91.xml><?xml version="1.0" encoding="utf-8"?>
<p:tagLst xmlns:p="http://schemas.openxmlformats.org/presentationml/2006/main">
  <p:tag name="KSO_WM_DIAGRAM_VIRTUALLY_FRAME" val="{&quot;height&quot;:281.35,&quot;left&quot;:100.35,&quot;top&quot;:46.3,&quot;width&quot;:697.85}"/>
</p:tagLst>
</file>

<file path=ppt/tags/tag92.xml><?xml version="1.0" encoding="utf-8"?>
<p:tagLst xmlns:p="http://schemas.openxmlformats.org/presentationml/2006/main">
  <p:tag name="KSO_WM_DIAGRAM_VIRTUALLY_FRAME" val="{&quot;height&quot;:281.35,&quot;left&quot;:100.35,&quot;top&quot;:46.3,&quot;width&quot;:697.85}"/>
</p:tagLst>
</file>

<file path=ppt/tags/tag93.xml><?xml version="1.0" encoding="utf-8"?>
<p:tagLst xmlns:p="http://schemas.openxmlformats.org/presentationml/2006/main">
  <p:tag name="KSO_WM_DIAGRAM_VIRTUALLY_FRAME" val="{&quot;height&quot;:281.35,&quot;left&quot;:100.35,&quot;top&quot;:46.3,&quot;width&quot;:697.85}"/>
</p:tagLst>
</file>

<file path=ppt/theme/theme1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1829</Words>
  <Application>WPS 演示</Application>
  <PresentationFormat>宽屏</PresentationFormat>
  <Paragraphs>162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宋体</vt:lpstr>
      <vt:lpstr>Wingdings</vt:lpstr>
      <vt:lpstr>Times New Roman</vt:lpstr>
      <vt:lpstr>BatangChe</vt:lpstr>
      <vt:lpstr>Segoe Print</vt:lpstr>
      <vt:lpstr>微软雅黑</vt:lpstr>
      <vt:lpstr>Arial Unicode MS</vt:lpstr>
      <vt:lpstr>Arial Black</vt:lpstr>
      <vt:lpstr>黑体</vt:lpstr>
      <vt:lpstr>ui-sans-serif</vt:lpstr>
      <vt:lpstr>WPS​​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熊兵</cp:lastModifiedBy>
  <cp:revision>22</cp:revision>
  <dcterms:created xsi:type="dcterms:W3CDTF">2023-07-11T07:43:00Z</dcterms:created>
  <dcterms:modified xsi:type="dcterms:W3CDTF">2026-04-17T04:13:19Z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A1099CD7A80A4675B2158540EE5A3AD2_13</vt:lpwstr>
  </property>
</Properties>
</file>