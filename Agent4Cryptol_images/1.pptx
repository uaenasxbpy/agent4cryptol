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3"/>
    <p:sldId id="257" r:id="rId4"/>
    <p:sldId id="258" r:id="rId5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EFFF"/>
    <a:srgbClr val="DEEFFE"/>
    <a:srgbClr val="EDFAF2"/>
    <a:srgbClr val="E8E8E8"/>
    <a:srgbClr val="B2B2B2"/>
    <a:srgbClr val="202020"/>
    <a:srgbClr val="323232"/>
    <a:srgbClr val="CC3300"/>
    <a:srgbClr val="CC00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207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handoutMaster" Target="handoutMasters/handout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3.xml"/><Relationship Id="rId8" Type="http://schemas.openxmlformats.org/officeDocument/2006/relationships/image" Target="../media/image6.svg"/><Relationship Id="rId7" Type="http://schemas.openxmlformats.org/officeDocument/2006/relationships/image" Target="../media/image5.png"/><Relationship Id="rId6" Type="http://schemas.openxmlformats.org/officeDocument/2006/relationships/tags" Target="../tags/tag2.xml"/><Relationship Id="rId5" Type="http://schemas.openxmlformats.org/officeDocument/2006/relationships/tags" Target="../tags/tag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2.svg"/><Relationship Id="rId2" Type="http://schemas.openxmlformats.org/officeDocument/2006/relationships/image" Target="../media/image2.png"/><Relationship Id="rId19" Type="http://schemas.openxmlformats.org/officeDocument/2006/relationships/image" Target="../media/image11.png"/><Relationship Id="rId18" Type="http://schemas.openxmlformats.org/officeDocument/2006/relationships/tags" Target="../tags/tag8.xml"/><Relationship Id="rId17" Type="http://schemas.openxmlformats.org/officeDocument/2006/relationships/image" Target="../media/image10.svg"/><Relationship Id="rId16" Type="http://schemas.openxmlformats.org/officeDocument/2006/relationships/image" Target="../media/image9.png"/><Relationship Id="rId15" Type="http://schemas.openxmlformats.org/officeDocument/2006/relationships/tags" Target="../tags/tag7.xml"/><Relationship Id="rId14" Type="http://schemas.openxmlformats.org/officeDocument/2006/relationships/tags" Target="../tags/tag6.xml"/><Relationship Id="rId13" Type="http://schemas.openxmlformats.org/officeDocument/2006/relationships/tags" Target="../tags/tag5.xml"/><Relationship Id="rId12" Type="http://schemas.openxmlformats.org/officeDocument/2006/relationships/tags" Target="../tags/tag4.xml"/><Relationship Id="rId11" Type="http://schemas.openxmlformats.org/officeDocument/2006/relationships/image" Target="../media/image8.svg"/><Relationship Id="rId10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/>
          <p:cNvSpPr/>
          <p:nvPr/>
        </p:nvSpPr>
        <p:spPr>
          <a:xfrm>
            <a:off x="332105" y="1457325"/>
            <a:ext cx="1595755" cy="2075815"/>
          </a:xfrm>
          <a:prstGeom prst="roundRect">
            <a:avLst>
              <a:gd name="adj" fmla="val 6639"/>
            </a:avLst>
          </a:prstGeom>
          <a:solidFill>
            <a:srgbClr val="E8E8E8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3834765" y="460375"/>
            <a:ext cx="7754620" cy="5187950"/>
          </a:xfrm>
          <a:prstGeom prst="roundRect">
            <a:avLst>
              <a:gd name="adj" fmla="val 5659"/>
            </a:avLst>
          </a:prstGeom>
          <a:solidFill>
            <a:schemeClr val="bg1"/>
          </a:solidFill>
          <a:ln w="15875" cmpd="sng">
            <a:solidFill>
              <a:schemeClr val="tx2">
                <a:lumMod val="25000"/>
                <a:lumOff val="75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4067810" y="3197225"/>
            <a:ext cx="2153285" cy="2200275"/>
          </a:xfrm>
          <a:prstGeom prst="roundRect">
            <a:avLst>
              <a:gd name="adj" fmla="val 6812"/>
            </a:avLst>
          </a:prstGeom>
          <a:solidFill>
            <a:srgbClr val="DEEFFE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6572250" y="732790"/>
            <a:ext cx="4618355" cy="4353560"/>
          </a:xfrm>
          <a:prstGeom prst="roundRect">
            <a:avLst>
              <a:gd name="adj" fmla="val 5717"/>
            </a:avLst>
          </a:prstGeom>
          <a:solidFill>
            <a:srgbClr val="EDFAF2"/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575175" y="3197225"/>
            <a:ext cx="18281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IR2Cryptol Agent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7527925" y="1050290"/>
            <a:ext cx="34309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Compilation &amp; Fixing Agent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310" y="1596390"/>
            <a:ext cx="528320" cy="55181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944245" y="1690688"/>
            <a:ext cx="1064260" cy="363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Times New Roman" panose="02020603050405020304" charset="0"/>
                <a:cs typeface="Times New Roman" panose="02020603050405020304" charset="0"/>
              </a:rPr>
              <a:t>Specification </a:t>
            </a:r>
            <a:endParaRPr lang="en-US" altLang="zh-CN" sz="1000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000" b="1">
                <a:latin typeface="Times New Roman" panose="02020603050405020304" charset="0"/>
                <a:cs typeface="Times New Roman" panose="02020603050405020304" charset="0"/>
              </a:rPr>
              <a:t>Document</a:t>
            </a:r>
            <a:endParaRPr lang="zh-CN" altLang="en-US" sz="1000" b="1"/>
          </a:p>
        </p:txBody>
      </p:sp>
      <p:sp>
        <p:nvSpPr>
          <p:cNvPr id="18" name="文本框 17"/>
          <p:cNvSpPr txBox="1"/>
          <p:nvPr/>
        </p:nvSpPr>
        <p:spPr>
          <a:xfrm>
            <a:off x="374968" y="2200275"/>
            <a:ext cx="1510030" cy="13322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e.g., Algorithm 1 ForExample():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Performs two simple for loops. 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1: for (i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 0; i&lt; 10;</a:t>
            </a:r>
            <a:r>
              <a:rPr lang="en-US" sz="800" i="1">
                <a:latin typeface="Times New Roman" panose="02020603050405020304" charset="0"/>
                <a:cs typeface="Times New Roman" panose="02020603050405020304" charset="0"/>
              </a:rPr>
              <a:t>i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++) 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2: </a:t>
            </a:r>
            <a:r>
              <a:rPr lang="zh-CN" altLang="en-US" sz="800" i="1">
                <a:latin typeface="Times New Roman" panose="02020603050405020304" charset="0"/>
                <a:cs typeface="Times New Roman" panose="02020603050405020304" charset="0"/>
              </a:rPr>
              <a:t>𝐴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[i] 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 i 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3: end for 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4:</a:t>
            </a:r>
            <a:r>
              <a:rPr lang="en-US" sz="800" i="1">
                <a:latin typeface="Times New Roman" panose="02020603050405020304" charset="0"/>
                <a:cs typeface="Times New Roman" panose="02020603050405020304" charset="0"/>
              </a:rPr>
              <a:t>j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0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5: for (k 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 256; k &gt; 1; k 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 k/2) 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6: </a:t>
            </a:r>
            <a:r>
              <a:rPr lang="zh-CN" altLang="en-US" sz="800" i="1">
                <a:latin typeface="Times New Roman" panose="02020603050405020304" charset="0"/>
                <a:cs typeface="Times New Roman" panose="02020603050405020304" charset="0"/>
              </a:rPr>
              <a:t>𝐵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[j] 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sz="800" i="1">
                <a:latin typeface="Times New Roman" panose="02020603050405020304" charset="0"/>
                <a:cs typeface="Times New Roman" panose="02020603050405020304" charset="0"/>
              </a:rPr>
              <a:t>k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7: </a:t>
            </a:r>
            <a:r>
              <a:rPr lang="en-US" sz="800" i="1">
                <a:latin typeface="Times New Roman" panose="02020603050405020304" charset="0"/>
                <a:cs typeface="Times New Roman" panose="02020603050405020304" charset="0"/>
              </a:rPr>
              <a:t>j</a:t>
            </a:r>
            <a:r>
              <a:rPr lang="en-US" altLang="en-US" sz="800" i="1">
                <a:latin typeface="Times New Roman" panose="02020603050405020304" charset="0"/>
                <a:cs typeface="Times New Roman" panose="02020603050405020304" charset="0"/>
              </a:rPr>
              <a:t>←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sz="800" i="1">
                <a:latin typeface="Times New Roman" panose="02020603050405020304" charset="0"/>
                <a:cs typeface="Times New Roman" panose="02020603050405020304" charset="0"/>
              </a:rPr>
              <a:t>j</a:t>
            </a:r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+ 1 </a:t>
            </a:r>
            <a:endParaRPr lang="en-US" altLang="zh-CN" sz="800" i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800" i="1">
                <a:latin typeface="Times New Roman" panose="02020603050405020304" charset="0"/>
                <a:cs typeface="Times New Roman" panose="02020603050405020304" charset="0"/>
              </a:rPr>
              <a:t>8: end for </a:t>
            </a:r>
            <a:endParaRPr lang="zh-CN" altLang="en-US" sz="800" i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530" y="3224530"/>
            <a:ext cx="426720" cy="279400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135" y="1050290"/>
            <a:ext cx="563880" cy="457200"/>
          </a:xfrm>
          <a:prstGeom prst="rect">
            <a:avLst/>
          </a:prstGeom>
        </p:spPr>
      </p:pic>
      <p:grpSp>
        <p:nvGrpSpPr>
          <p:cNvPr id="51" name="组合 50"/>
          <p:cNvGrpSpPr/>
          <p:nvPr/>
        </p:nvGrpSpPr>
        <p:grpSpPr>
          <a:xfrm>
            <a:off x="4093845" y="560070"/>
            <a:ext cx="1934845" cy="2493010"/>
            <a:chOff x="1538" y="6291"/>
            <a:chExt cx="3047" cy="3926"/>
          </a:xfrm>
        </p:grpSpPr>
        <p:sp>
          <p:nvSpPr>
            <p:cNvPr id="7" name="圆角矩形 6"/>
            <p:cNvSpPr/>
            <p:nvPr/>
          </p:nvSpPr>
          <p:spPr>
            <a:xfrm>
              <a:off x="1538" y="6291"/>
              <a:ext cx="2981" cy="3926"/>
            </a:xfrm>
            <a:prstGeom prst="roundRect">
              <a:avLst>
                <a:gd name="adj" fmla="val 4082"/>
              </a:avLst>
            </a:prstGeom>
            <a:solidFill>
              <a:srgbClr val="F8EFFF"/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365" y="6475"/>
              <a:ext cx="2221" cy="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200" u="sng">
                  <a:latin typeface="Times New Roman" panose="02020603050405020304" charset="0"/>
                  <a:cs typeface="Times New Roman" panose="02020603050405020304" charset="0"/>
                </a:rPr>
                <a:t>Spec2IR Agent</a:t>
              </a:r>
              <a:endParaRPr lang="en-US" altLang="zh-CN" sz="1200" u="sng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pic>
          <p:nvPicPr>
            <p:cNvPr id="22" name="图片 2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5" y="6514"/>
              <a:ext cx="620" cy="357"/>
            </a:xfrm>
            <a:prstGeom prst="rect">
              <a:avLst/>
            </a:prstGeom>
          </p:spPr>
        </p:pic>
        <p:grpSp>
          <p:nvGrpSpPr>
            <p:cNvPr id="38" name="组合 37"/>
            <p:cNvGrpSpPr/>
            <p:nvPr/>
          </p:nvGrpSpPr>
          <p:grpSpPr>
            <a:xfrm>
              <a:off x="1745" y="7204"/>
              <a:ext cx="2558" cy="1114"/>
              <a:chOff x="8923" y="5741"/>
              <a:chExt cx="2558" cy="1114"/>
            </a:xfrm>
          </p:grpSpPr>
          <p:sp>
            <p:nvSpPr>
              <p:cNvPr id="39" name="矩形 38"/>
              <p:cNvSpPr/>
              <p:nvPr>
                <p:custDataLst>
                  <p:tags r:id="rId5"/>
                </p:custDataLst>
              </p:nvPr>
            </p:nvSpPr>
            <p:spPr>
              <a:xfrm>
                <a:off x="8923" y="5741"/>
                <a:ext cx="2558" cy="11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grpSp>
            <p:nvGrpSpPr>
              <p:cNvPr id="40" name="组合 39"/>
              <p:cNvGrpSpPr/>
              <p:nvPr/>
            </p:nvGrpSpPr>
            <p:grpSpPr>
              <a:xfrm>
                <a:off x="9267" y="5860"/>
                <a:ext cx="1871" cy="659"/>
                <a:chOff x="3914" y="1016"/>
                <a:chExt cx="7486" cy="2602"/>
              </a:xfrm>
            </p:grpSpPr>
            <p:pic>
              <p:nvPicPr>
                <p:cNvPr id="41" name="图片 40" descr="file-pdf"/>
                <p:cNvPicPr>
                  <a:picLocks noChangeAspect="1"/>
                </p:cNvPicPr>
                <p:nvPr>
                  <p:custDataLst>
                    <p:tags r:id="rId6"/>
                  </p:custDataLst>
                </p:nvPr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14" y="1016"/>
                  <a:ext cx="2603" cy="2603"/>
                </a:xfrm>
                <a:prstGeom prst="rect">
                  <a:avLst/>
                </a:prstGeom>
              </p:spPr>
            </p:pic>
            <p:pic>
              <p:nvPicPr>
                <p:cNvPr id="42" name="图片 41" descr="DOC"/>
                <p:cNvPicPr>
                  <a:picLocks noChangeAspect="1"/>
                </p:cNvPicPr>
                <p:nvPr>
                  <p:custDataLst>
                    <p:tags r:id="rId9"/>
                  </p:custDataLst>
                </p:nvPr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46" y="1040"/>
                  <a:ext cx="2555" cy="2555"/>
                </a:xfrm>
                <a:prstGeom prst="rect">
                  <a:avLst/>
                </a:prstGeom>
              </p:spPr>
            </p:pic>
          </p:grpSp>
          <p:sp>
            <p:nvSpPr>
              <p:cNvPr id="43" name="文本框 42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8923" y="6519"/>
                <a:ext cx="2559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800">
                    <a:latin typeface="Times New Roman" panose="02020603050405020304" charset="0"/>
                    <a:cs typeface="Times New Roman" panose="02020603050405020304" charset="0"/>
                  </a:rPr>
                  <a:t>Standard Specification Document</a:t>
                </a:r>
                <a:endParaRPr lang="en-US" altLang="zh-CN" sz="80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grpSp>
          <p:nvGrpSpPr>
            <p:cNvPr id="44" name="组合 43"/>
            <p:cNvGrpSpPr/>
            <p:nvPr/>
          </p:nvGrpSpPr>
          <p:grpSpPr>
            <a:xfrm>
              <a:off x="1746" y="8889"/>
              <a:ext cx="2558" cy="1114"/>
              <a:chOff x="9425" y="2609"/>
              <a:chExt cx="2558" cy="1114"/>
            </a:xfrm>
          </p:grpSpPr>
          <p:sp>
            <p:nvSpPr>
              <p:cNvPr id="45" name="矩形 44"/>
              <p:cNvSpPr/>
              <p:nvPr>
                <p:custDataLst>
                  <p:tags r:id="rId13"/>
                </p:custDataLst>
              </p:nvPr>
            </p:nvSpPr>
            <p:spPr>
              <a:xfrm>
                <a:off x="9425" y="2609"/>
                <a:ext cx="2558" cy="11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6" name="文本框 45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9425" y="3387"/>
                <a:ext cx="2559" cy="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800">
                    <a:latin typeface="Times New Roman" panose="02020603050405020304" charset="0"/>
                    <a:cs typeface="Times New Roman" panose="02020603050405020304" charset="0"/>
                  </a:rPr>
                  <a:t>Intermediate Representation </a:t>
                </a:r>
                <a:r>
                  <a:rPr lang="en-US" altLang="zh-CN" sz="800">
                    <a:latin typeface="Times New Roman" panose="02020603050405020304" charset="0"/>
                    <a:cs typeface="Times New Roman" panose="02020603050405020304" charset="0"/>
                  </a:rPr>
                  <a:t>Json</a:t>
                </a:r>
                <a:endParaRPr lang="en-US" altLang="zh-CN" sz="800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grpSp>
            <p:nvGrpSpPr>
              <p:cNvPr id="47" name="组合 46"/>
              <p:cNvGrpSpPr/>
              <p:nvPr/>
            </p:nvGrpSpPr>
            <p:grpSpPr>
              <a:xfrm>
                <a:off x="9917" y="2671"/>
                <a:ext cx="1499" cy="664"/>
                <a:chOff x="11138" y="1583"/>
                <a:chExt cx="1499" cy="664"/>
              </a:xfrm>
            </p:grpSpPr>
            <p:pic>
              <p:nvPicPr>
                <p:cNvPr id="48" name="图片 47" descr="json输出"/>
                <p:cNvPicPr>
                  <a:picLocks noChangeAspect="1"/>
                </p:cNvPicPr>
                <p:nvPr>
                  <p:custDataLst>
                    <p:tags r:id="rId15"/>
                  </p:custDataLst>
                </p:nvPr>
              </p:nvPicPr>
              <p:blipFill>
                <a:blip r:embed="rId16">
                  <a:extLst>
                    <a:ext uri="{96DAC541-7B7A-43D3-8B79-37D633B846F1}">
                      <asvg:svgBlip xmlns:asvg="http://schemas.microsoft.com/office/drawing/2016/SVG/main" r:embed="rId1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138" y="1632"/>
                  <a:ext cx="528" cy="528"/>
                </a:xfrm>
                <a:prstGeom prst="rect">
                  <a:avLst/>
                </a:prstGeom>
              </p:spPr>
            </p:pic>
            <p:pic>
              <p:nvPicPr>
                <p:cNvPr id="49" name="图片 48" descr="jsonSchema"/>
                <p:cNvPicPr>
                  <a:picLocks noChangeAspect="1"/>
                </p:cNvPicPr>
                <p:nvPr>
                  <p:custDataLst>
                    <p:tags r:id="rId18"/>
                  </p:custDataLst>
                </p:nvPr>
              </p:nvPicPr>
              <p:blipFill>
                <a:blip r:embed="rId19">
                  <a:extLs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1973" y="1583"/>
                  <a:ext cx="664" cy="664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50" name="直接箭头连接符 49"/>
            <p:cNvCxnSpPr/>
            <p:nvPr/>
          </p:nvCxnSpPr>
          <p:spPr>
            <a:xfrm>
              <a:off x="3024" y="8319"/>
              <a:ext cx="10" cy="57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1464310" y="1384935"/>
            <a:ext cx="1624330" cy="7080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463993" y="1878965"/>
            <a:ext cx="1624965" cy="2139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800">
                <a:latin typeface="Times New Roman" panose="02020603050405020304" charset="0"/>
                <a:cs typeface="Times New Roman" panose="02020603050405020304" charset="0"/>
              </a:rPr>
              <a:t>Intermediate Representation </a:t>
            </a:r>
            <a:r>
              <a:rPr lang="en-US" altLang="zh-CN" sz="800">
                <a:latin typeface="Times New Roman" panose="02020603050405020304" charset="0"/>
                <a:cs typeface="Times New Roman" panose="02020603050405020304" charset="0"/>
              </a:rPr>
              <a:t>Json</a:t>
            </a:r>
            <a:endParaRPr lang="en-US" altLang="zh-CN" sz="8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1776730" y="1424305"/>
            <a:ext cx="951865" cy="421640"/>
            <a:chOff x="11138" y="1583"/>
            <a:chExt cx="1499" cy="664"/>
          </a:xfrm>
        </p:grpSpPr>
        <p:pic>
          <p:nvPicPr>
            <p:cNvPr id="25" name="图片 24" descr="json输出"/>
            <p:cNvPicPr>
              <a:picLocks noChangeAspect="1"/>
            </p:cNvPicPr>
            <p:nvPr/>
          </p:nvPicPr>
          <p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38" y="1632"/>
              <a:ext cx="528" cy="528"/>
            </a:xfrm>
            <a:prstGeom prst="rect">
              <a:avLst/>
            </a:prstGeom>
          </p:spPr>
        </p:pic>
        <p:pic>
          <p:nvPicPr>
            <p:cNvPr id="27" name="图片 26" descr="jsonSchema"/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973" y="1583"/>
              <a:ext cx="664" cy="664"/>
            </a:xfrm>
            <a:prstGeom prst="rect">
              <a:avLst/>
            </a:prstGeom>
          </p:spPr>
        </p:pic>
      </p:grpSp>
      <p:grpSp>
        <p:nvGrpSpPr>
          <p:cNvPr id="12" name="组合 11"/>
          <p:cNvGrpSpPr/>
          <p:nvPr/>
        </p:nvGrpSpPr>
        <p:grpSpPr>
          <a:xfrm>
            <a:off x="5985193" y="407035"/>
            <a:ext cx="1624330" cy="707390"/>
            <a:chOff x="8923" y="5741"/>
            <a:chExt cx="2558" cy="1114"/>
          </a:xfrm>
        </p:grpSpPr>
        <p:sp>
          <p:nvSpPr>
            <p:cNvPr id="7" name="矩形 6"/>
            <p:cNvSpPr/>
            <p:nvPr/>
          </p:nvSpPr>
          <p:spPr>
            <a:xfrm>
              <a:off x="8923" y="5741"/>
              <a:ext cx="2558" cy="11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9267" y="5860"/>
              <a:ext cx="1871" cy="659"/>
              <a:chOff x="3914" y="1016"/>
              <a:chExt cx="7486" cy="2602"/>
            </a:xfrm>
          </p:grpSpPr>
          <p:pic>
            <p:nvPicPr>
              <p:cNvPr id="9" name="图片 8" descr="file-pdf"/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14" y="1016"/>
                <a:ext cx="2603" cy="2603"/>
              </a:xfrm>
              <a:prstGeom prst="rect">
                <a:avLst/>
              </a:prstGeom>
            </p:spPr>
          </p:pic>
          <p:pic>
            <p:nvPicPr>
              <p:cNvPr id="10" name="图片 9" descr="DOC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8846" y="1040"/>
                <a:ext cx="2555" cy="2555"/>
              </a:xfrm>
              <a:prstGeom prst="rect">
                <a:avLst/>
              </a:prstGeom>
            </p:spPr>
          </p:pic>
        </p:grpSp>
        <p:sp>
          <p:nvSpPr>
            <p:cNvPr id="11" name="文本框 10"/>
            <p:cNvSpPr txBox="1"/>
            <p:nvPr/>
          </p:nvSpPr>
          <p:spPr>
            <a:xfrm>
              <a:off x="8923" y="6519"/>
              <a:ext cx="2559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800">
                  <a:latin typeface="Times New Roman" panose="02020603050405020304" charset="0"/>
                  <a:cs typeface="Times New Roman" panose="02020603050405020304" charset="0"/>
                </a:rPr>
                <a:t>Standard Specification Document</a:t>
              </a:r>
              <a:endParaRPr lang="en-US" altLang="zh-CN" sz="8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5985193" y="1656715"/>
            <a:ext cx="1624330" cy="707390"/>
            <a:chOff x="9425" y="2609"/>
            <a:chExt cx="2558" cy="1114"/>
          </a:xfrm>
        </p:grpSpPr>
        <p:sp>
          <p:nvSpPr>
            <p:cNvPr id="14" name="矩形 13"/>
            <p:cNvSpPr/>
            <p:nvPr/>
          </p:nvSpPr>
          <p:spPr>
            <a:xfrm>
              <a:off x="9425" y="2609"/>
              <a:ext cx="2558" cy="11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9425" y="3387"/>
              <a:ext cx="2559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800">
                  <a:latin typeface="Times New Roman" panose="02020603050405020304" charset="0"/>
                  <a:cs typeface="Times New Roman" panose="02020603050405020304" charset="0"/>
                </a:rPr>
                <a:t>Intermediate Representation </a:t>
              </a:r>
              <a:r>
                <a:rPr lang="en-US" altLang="zh-CN" sz="800">
                  <a:latin typeface="Times New Roman" panose="02020603050405020304" charset="0"/>
                  <a:cs typeface="Times New Roman" panose="02020603050405020304" charset="0"/>
                </a:rPr>
                <a:t>Json</a:t>
              </a:r>
              <a:endParaRPr lang="en-US" altLang="zh-CN" sz="8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9917" y="2671"/>
              <a:ext cx="1499" cy="664"/>
              <a:chOff x="11138" y="1583"/>
              <a:chExt cx="1499" cy="664"/>
            </a:xfrm>
          </p:grpSpPr>
          <p:pic>
            <p:nvPicPr>
              <p:cNvPr id="17" name="图片 16" descr="json输出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138" y="1632"/>
                <a:ext cx="528" cy="528"/>
              </a:xfrm>
              <a:prstGeom prst="rect">
                <a:avLst/>
              </a:prstGeom>
            </p:spPr>
          </p:pic>
          <p:pic>
            <p:nvPicPr>
              <p:cNvPr id="18" name="图片 17" descr="jsonSchema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973" y="1583"/>
                <a:ext cx="664" cy="664"/>
              </a:xfrm>
              <a:prstGeom prst="rect">
                <a:avLst/>
              </a:prstGeom>
            </p:spPr>
          </p:pic>
        </p:grpSp>
      </p:grpSp>
      <p:cxnSp>
        <p:nvCxnSpPr>
          <p:cNvPr id="20" name="直接箭头连接符 19"/>
          <p:cNvCxnSpPr>
            <a:stCxn id="11" idx="2"/>
            <a:endCxn id="14" idx="0"/>
          </p:cNvCxnSpPr>
          <p:nvPr/>
        </p:nvCxnSpPr>
        <p:spPr>
          <a:xfrm>
            <a:off x="6797675" y="1115060"/>
            <a:ext cx="0" cy="541655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圆角矩形 20"/>
          <p:cNvSpPr/>
          <p:nvPr/>
        </p:nvSpPr>
        <p:spPr>
          <a:xfrm>
            <a:off x="2728595" y="3003550"/>
            <a:ext cx="1892935" cy="2493010"/>
          </a:xfrm>
          <a:prstGeom prst="roundRect">
            <a:avLst>
              <a:gd name="adj" fmla="val 4082"/>
            </a:avLst>
          </a:prstGeom>
          <a:solidFill>
            <a:srgbClr val="F8EFFF"/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53740" y="3120390"/>
            <a:ext cx="14103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 u="sng">
                <a:latin typeface="Times New Roman" panose="02020603050405020304" charset="0"/>
                <a:cs typeface="Times New Roman" panose="02020603050405020304" charset="0"/>
              </a:rPr>
              <a:t>Spec2IR Agent</a:t>
            </a:r>
            <a:endParaRPr lang="en-US" altLang="zh-CN" sz="1200" u="sng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60040" y="3144838"/>
            <a:ext cx="393700" cy="226695"/>
          </a:xfrm>
          <a:prstGeom prst="rect">
            <a:avLst/>
          </a:prstGeom>
        </p:spPr>
      </p:pic>
      <p:grpSp>
        <p:nvGrpSpPr>
          <p:cNvPr id="38" name="组合 37"/>
          <p:cNvGrpSpPr/>
          <p:nvPr/>
        </p:nvGrpSpPr>
        <p:grpSpPr>
          <a:xfrm>
            <a:off x="2859723" y="3583305"/>
            <a:ext cx="1624330" cy="707390"/>
            <a:chOff x="8923" y="5741"/>
            <a:chExt cx="2558" cy="1114"/>
          </a:xfrm>
        </p:grpSpPr>
        <p:sp>
          <p:nvSpPr>
            <p:cNvPr id="39" name="矩形 38"/>
            <p:cNvSpPr/>
            <p:nvPr/>
          </p:nvSpPr>
          <p:spPr>
            <a:xfrm>
              <a:off x="8923" y="5741"/>
              <a:ext cx="2558" cy="11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40" name="组合 39"/>
            <p:cNvGrpSpPr/>
            <p:nvPr/>
          </p:nvGrpSpPr>
          <p:grpSpPr>
            <a:xfrm>
              <a:off x="9267" y="5860"/>
              <a:ext cx="1871" cy="659"/>
              <a:chOff x="3914" y="1016"/>
              <a:chExt cx="7486" cy="2602"/>
            </a:xfrm>
          </p:grpSpPr>
          <p:pic>
            <p:nvPicPr>
              <p:cNvPr id="41" name="图片 40" descr="file-pdf"/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14" y="1016"/>
                <a:ext cx="2603" cy="2603"/>
              </a:xfrm>
              <a:prstGeom prst="rect">
                <a:avLst/>
              </a:prstGeom>
            </p:spPr>
          </p:pic>
          <p:pic>
            <p:nvPicPr>
              <p:cNvPr id="42" name="图片 41" descr="DOC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8846" y="1040"/>
                <a:ext cx="2555" cy="2555"/>
              </a:xfrm>
              <a:prstGeom prst="rect">
                <a:avLst/>
              </a:prstGeom>
            </p:spPr>
          </p:pic>
        </p:grpSp>
        <p:sp>
          <p:nvSpPr>
            <p:cNvPr id="43" name="文本框 42"/>
            <p:cNvSpPr txBox="1"/>
            <p:nvPr/>
          </p:nvSpPr>
          <p:spPr>
            <a:xfrm>
              <a:off x="8923" y="6519"/>
              <a:ext cx="2559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800">
                  <a:latin typeface="Times New Roman" panose="02020603050405020304" charset="0"/>
                  <a:cs typeface="Times New Roman" panose="02020603050405020304" charset="0"/>
                </a:rPr>
                <a:t>Standard Specification Document</a:t>
              </a:r>
              <a:endParaRPr lang="en-US" altLang="zh-CN" sz="8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44" name="组合 43"/>
          <p:cNvGrpSpPr/>
          <p:nvPr/>
        </p:nvGrpSpPr>
        <p:grpSpPr>
          <a:xfrm>
            <a:off x="2860358" y="4653280"/>
            <a:ext cx="1624330" cy="707390"/>
            <a:chOff x="9425" y="2609"/>
            <a:chExt cx="2558" cy="1114"/>
          </a:xfrm>
        </p:grpSpPr>
        <p:sp>
          <p:nvSpPr>
            <p:cNvPr id="45" name="矩形 44"/>
            <p:cNvSpPr/>
            <p:nvPr/>
          </p:nvSpPr>
          <p:spPr>
            <a:xfrm>
              <a:off x="9425" y="2609"/>
              <a:ext cx="2558" cy="11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9425" y="3387"/>
              <a:ext cx="2559" cy="3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800">
                  <a:latin typeface="Times New Roman" panose="02020603050405020304" charset="0"/>
                  <a:cs typeface="Times New Roman" panose="02020603050405020304" charset="0"/>
                </a:rPr>
                <a:t>Intermediate Representation </a:t>
              </a:r>
              <a:r>
                <a:rPr lang="en-US" altLang="zh-CN" sz="800">
                  <a:latin typeface="Times New Roman" panose="02020603050405020304" charset="0"/>
                  <a:cs typeface="Times New Roman" panose="02020603050405020304" charset="0"/>
                </a:rPr>
                <a:t>Json</a:t>
              </a:r>
              <a:endParaRPr lang="en-US" altLang="zh-CN" sz="8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grpSp>
          <p:nvGrpSpPr>
            <p:cNvPr id="47" name="组合 46"/>
            <p:cNvGrpSpPr/>
            <p:nvPr/>
          </p:nvGrpSpPr>
          <p:grpSpPr>
            <a:xfrm>
              <a:off x="9917" y="2671"/>
              <a:ext cx="1499" cy="664"/>
              <a:chOff x="11138" y="1583"/>
              <a:chExt cx="1499" cy="664"/>
            </a:xfrm>
          </p:grpSpPr>
          <p:pic>
            <p:nvPicPr>
              <p:cNvPr id="48" name="图片 47" descr="json输出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138" y="1632"/>
                <a:ext cx="528" cy="528"/>
              </a:xfrm>
              <a:prstGeom prst="rect">
                <a:avLst/>
              </a:prstGeom>
            </p:spPr>
          </p:pic>
          <p:pic>
            <p:nvPicPr>
              <p:cNvPr id="49" name="图片 48" descr="jsonSchema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973" y="1583"/>
                <a:ext cx="664" cy="664"/>
              </a:xfrm>
              <a:prstGeom prst="rect">
                <a:avLst/>
              </a:prstGeom>
            </p:spPr>
          </p:pic>
        </p:grpSp>
      </p:grpSp>
      <p:cxnSp>
        <p:nvCxnSpPr>
          <p:cNvPr id="50" name="直接箭头连接符 49"/>
          <p:cNvCxnSpPr/>
          <p:nvPr/>
        </p:nvCxnSpPr>
        <p:spPr>
          <a:xfrm>
            <a:off x="3672205" y="4291330"/>
            <a:ext cx="6350" cy="361950"/>
          </a:xfrm>
          <a:prstGeom prst="straightConnector1">
            <a:avLst/>
          </a:prstGeom>
          <a:ln w="158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圆角矩形 4"/>
          <p:cNvSpPr/>
          <p:nvPr/>
        </p:nvSpPr>
        <p:spPr>
          <a:xfrm>
            <a:off x="4067810" y="2971800"/>
            <a:ext cx="2153285" cy="2200275"/>
          </a:xfrm>
          <a:prstGeom prst="roundRect">
            <a:avLst>
              <a:gd name="adj" fmla="val 6812"/>
            </a:avLst>
          </a:prstGeom>
          <a:solidFill>
            <a:srgbClr val="DEEFFE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"/>
            </p:custDataLst>
          </p:nvPr>
        </p:nvSpPr>
        <p:spPr>
          <a:xfrm>
            <a:off x="4575175" y="3197225"/>
            <a:ext cx="182816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IR2Cryptol Agent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113530" y="3224530"/>
            <a:ext cx="426720" cy="2794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2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3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4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5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6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7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8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9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ags/tag10.xml><?xml version="1.0" encoding="utf-8"?>
<p:tagLst xmlns:p="http://schemas.openxmlformats.org/presentationml/2006/main">
  <p:tag name="KSO_WM_DIAGRAM_VIRTUALLY_FRAME" val="{&quot;height&quot;:231.8,&quot;left&quot;:322.35,&quot;top&quot;:44.1,&quot;width&quot;:181.85}"/>
</p:tagLst>
</file>

<file path=ppt/theme/theme1.xml><?xml version="1.0" encoding="utf-8"?>
<a:theme xmlns:a="http://schemas.openxmlformats.org/drawingml/2006/main" name="WPS​​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509</Words>
  <Application>WPS 演示</Application>
  <PresentationFormat>宽屏</PresentationFormat>
  <Paragraphs>38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Arial Black</vt:lpstr>
      <vt:lpstr>微软雅黑</vt:lpstr>
      <vt:lpstr>Arial Unicode MS</vt:lpstr>
      <vt:lpstr>黑体</vt:lpstr>
      <vt:lpstr>Times New Roman</vt:lpstr>
      <vt:lpstr>BatangChe</vt:lpstr>
      <vt:lpstr>Segoe Print</vt:lpstr>
      <vt:lpstr>WPS​​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熊兵</cp:lastModifiedBy>
  <cp:revision>10</cp:revision>
  <dcterms:created xsi:type="dcterms:W3CDTF">2023-07-11T07:43:00Z</dcterms:created>
  <dcterms:modified xsi:type="dcterms:W3CDTF">2026-04-15T10:23:54Z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A1099CD7A80A4675B2158540EE5A3AD2_13</vt:lpwstr>
  </property>
</Properties>
</file>